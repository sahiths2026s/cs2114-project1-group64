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4986db1002a43d0" /><Relationship Type="http://schemas.openxmlformats.org/officeDocument/2006/relationships/extended-properties" Target="/docProps/app.xml" Id="R65e988e0e1324e2e" /><Relationship Type="http://schemas.openxmlformats.org/officeDocument/2006/relationships/officeDocument" Target="/ppt/presentation.xml" Id="R0d57ddd20adb4f26" /></Relationships>
</file>

<file path=ppt/presentation.xml><?xml version="1.0" encoding="utf-8"?>
<p:presentation xmlns:p="http://schemas.openxmlformats.org/presentationml/2006/main">
  <p:sldMasterIdLst>
    <p:sldMasterId xmlns:r="http://schemas.openxmlformats.org/officeDocument/2006/relationships" id="2147483648" r:id="R5325822960994369"/>
  </p:sldMasterIdLst>
  <p:notesMasterIdLst>
    <p:notesMasterId xmlns:r="http://schemas.openxmlformats.org/officeDocument/2006/relationships" r:id="Rd7227c78246a42aa"/>
  </p:notesMasterIdLst>
  <p:sldIdLst>
    <p:sldId xmlns:r="http://schemas.openxmlformats.org/officeDocument/2006/relationships" id="256" r:id="R71b2be9a8fea4c16"/>
    <p:sldId xmlns:r="http://schemas.openxmlformats.org/officeDocument/2006/relationships" id="257" r:id="R4d0e5fe04a7a437d"/>
    <p:sldId xmlns:r="http://schemas.openxmlformats.org/officeDocument/2006/relationships" id="258" r:id="Rcb92a3d8461441a2"/>
    <p:sldId xmlns:r="http://schemas.openxmlformats.org/officeDocument/2006/relationships" id="259" r:id="R9a82116acbf4452f"/>
    <p:sldId xmlns:r="http://schemas.openxmlformats.org/officeDocument/2006/relationships" id="260" r:id="Re8d449e9ce1f4cd4"/>
    <p:sldId xmlns:r="http://schemas.openxmlformats.org/officeDocument/2006/relationships" id="261" r:id="Rce6783ceb0ed4d85"/>
    <p:sldId xmlns:r="http://schemas.openxmlformats.org/officeDocument/2006/relationships" id="262" r:id="R012223716a87408e"/>
    <p:sldId xmlns:r="http://schemas.openxmlformats.org/officeDocument/2006/relationships" id="263" r:id="Re15ad7f0d6dc4452"/>
    <p:sldId xmlns:r="http://schemas.openxmlformats.org/officeDocument/2006/relationships" id="264" r:id="R7049c26c23e14cb1"/>
    <p:sldId xmlns:r="http://schemas.openxmlformats.org/officeDocument/2006/relationships" id="265" r:id="Rfe82f6e685a64457"/>
    <p:sldId xmlns:r="http://schemas.openxmlformats.org/officeDocument/2006/relationships" id="266" r:id="R8985cfd0542d461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c6307c30c5d46a1" /><Relationship Type="http://schemas.openxmlformats.org/officeDocument/2006/relationships/slideMaster" Target="/ppt/slideMasters/slideMaster1.xml" Id="R5325822960994369" /><Relationship Type="http://schemas.openxmlformats.org/officeDocument/2006/relationships/notesMaster" Target="/ppt/notesMasters/notesMaster1.xml" Id="Rd7227c78246a42aa" /><Relationship Type="http://schemas.openxmlformats.org/officeDocument/2006/relationships/presProps" Target="/ppt/presProps.xml" Id="R70fbfc46e4da424d" /><Relationship Type="http://schemas.openxmlformats.org/officeDocument/2006/relationships/tableStyles" Target="/ppt/tableStyles.xml" Id="R907035b1a85540a4" /><Relationship Type="http://schemas.openxmlformats.org/officeDocument/2006/relationships/slide" Target="/ppt/slides/slide1.xml" Id="R71b2be9a8fea4c16" /><Relationship Type="http://schemas.openxmlformats.org/officeDocument/2006/relationships/slide" Target="/ppt/slides/slide2.xml" Id="R4d0e5fe04a7a437d" /><Relationship Type="http://schemas.openxmlformats.org/officeDocument/2006/relationships/slide" Target="/ppt/slides/slide3.xml" Id="Rcb92a3d8461441a2" /><Relationship Type="http://schemas.openxmlformats.org/officeDocument/2006/relationships/slide" Target="/ppt/slides/slide4.xml" Id="R9a82116acbf4452f" /><Relationship Type="http://schemas.openxmlformats.org/officeDocument/2006/relationships/slide" Target="/ppt/slides/slide5.xml" Id="Re8d449e9ce1f4cd4" /><Relationship Type="http://schemas.openxmlformats.org/officeDocument/2006/relationships/slide" Target="/ppt/slides/slide6.xml" Id="Rce6783ceb0ed4d85" /><Relationship Type="http://schemas.openxmlformats.org/officeDocument/2006/relationships/slide" Target="/ppt/slides/slide7.xml" Id="R012223716a87408e" /><Relationship Type="http://schemas.openxmlformats.org/officeDocument/2006/relationships/slide" Target="/ppt/slides/slide8.xml" Id="Re15ad7f0d6dc4452" /><Relationship Type="http://schemas.openxmlformats.org/officeDocument/2006/relationships/slide" Target="/ppt/slides/slide9.xml" Id="R7049c26c23e14cb1" /><Relationship Type="http://schemas.openxmlformats.org/officeDocument/2006/relationships/slide" Target="/ppt/slides/slide10.xml" Id="Rfe82f6e685a64457" /><Relationship Type="http://schemas.openxmlformats.org/officeDocument/2006/relationships/slide" Target="/ppt/slides/slide11.xml" Id="R8985cfd0542d461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962987831e41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9fbd6e161634f3d" /><Relationship Type="http://schemas.openxmlformats.org/officeDocument/2006/relationships/notesMaster" Target="/ppt/notesMasters/notesMaster1.xml" Id="R804d9b954a004fd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aee4b3556f94a66" /><Relationship Type="http://schemas.openxmlformats.org/officeDocument/2006/relationships/notesMaster" Target="/ppt/notesMasters/notesMaster1.xml" Id="R08f14e7c108f461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3398c97eaf4c87" /><Relationship Type="http://schemas.openxmlformats.org/officeDocument/2006/relationships/notesMaster" Target="/ppt/notesMasters/notesMaster1.xml" Id="R5866b756023e4022"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5b08e9460149a1" /><Relationship Type="http://schemas.openxmlformats.org/officeDocument/2006/relationships/notesMaster" Target="/ppt/notesMasters/notesMaster1.xml" Id="R6c19c37ac3b148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c954b295817e4ab3" /><Relationship Type="http://schemas.openxmlformats.org/officeDocument/2006/relationships/notesMaster" Target="/ppt/notesMasters/notesMaster1.xml" Id="R8990d44a826142bc"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7b15a132324a7a" /><Relationship Type="http://schemas.openxmlformats.org/officeDocument/2006/relationships/notesMaster" Target="/ppt/notesMasters/notesMaster1.xml" Id="R46d55947cc414ac1" /></Relationships>
</file>

<file path=ppt/notesSlides/_rels/notesSlide7.xml.rels>&#65279;<?xml version="1.0" encoding="utf-8"?><Relationships xmlns="http://schemas.openxmlformats.org/package/2006/relationships"><Relationship Type="http://schemas.openxmlformats.org/officeDocument/2006/relationships/slide" Target="/ppt/slides/slide7.xml" Id="Rf04891b998ec4fd4" /><Relationship Type="http://schemas.openxmlformats.org/officeDocument/2006/relationships/notesMaster" Target="/ppt/notesMasters/notesMaster1.xml" Id="Rbde4a05e778948e5" /></Relationships>
</file>

<file path=ppt/notesSlides/_rels/notesSlide8.xml.rels>&#65279;<?xml version="1.0" encoding="utf-8"?><Relationships xmlns="http://schemas.openxmlformats.org/package/2006/relationships"><Relationship Type="http://schemas.openxmlformats.org/officeDocument/2006/relationships/slide" Target="/ppt/slides/slide8.xml" Id="R697077c745d94d7c" /><Relationship Type="http://schemas.openxmlformats.org/officeDocument/2006/relationships/notesMaster" Target="/ppt/notesMasters/notesMaster1.xml" Id="R4ec1d854ff6a4219" /></Relationships>
</file>

<file path=ppt/notesSlides/_rels/notesSlide9.xml.rels>&#65279;<?xml version="1.0" encoding="utf-8"?><Relationships xmlns="http://schemas.openxmlformats.org/package/2006/relationships"><Relationship Type="http://schemas.openxmlformats.org/officeDocument/2006/relationships/slide" Target="/ppt/slides/slide9.xml" Id="R073af2238b35480d" /><Relationship Type="http://schemas.openxmlformats.org/officeDocument/2006/relationships/notesMaster" Target="/ppt/notesMasters/notesMaster1.xml" Id="Rd8cdf41b12044b8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828970d845a4f24" /><Relationship Type="http://schemas.openxmlformats.org/officeDocument/2006/relationships/notesMaster" Target="/ppt/notesMasters/notesMaster1.xml" Id="R52606260df0d403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433d914add140a6" /><Relationship Type="http://schemas.openxmlformats.org/officeDocument/2006/relationships/notesMaster" Target="/ppt/notesMasters/notesMaster1.xml" Id="Ra5cbb803a5a749c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0:00–0:15 (15 seconds). Introduce the project and group. Pill Roulette is a two-player terminal prediction game. The demo will show a complete game and deliberate bad input. This presentation covers what we built, the live demo, development and scoping, then our use of GenAI for code generation, completion and testing.</a:t>
            </a:r>
          </a:p>
          <a:p xmlns:a="http://schemas.openxmlformats.org/drawingml/2006/main">
            <a:r>
              <a:t/>
            </a:r>
          </a:p>
          <a:p xmlns:a="http://schemas.openxmlformats.org/drawingml/2006/main">
            <a:r>
              <a:t>Source: user-supplied Pill Roulette Specification Doc, sections 1–13, and scope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0:15–1:00 (45 seconds). Explain the rules in everyday language. Two local players share the terminal, each starts with three health, and the first player starts. A normal game has five cyanide and five sugar pills in a shuffled hidden order. Players see remaining counts but cannot see the next pill. Command 1 takes it and command 2 gives it to the opponent. Cyanide removes one health and sugar removes none. Every accepted action consumes one pill and changes turns unless the game ends. Zero health determines the winner. If the sequence ends first, the game is a draw.</a:t>
            </a:r>
          </a:p>
          <a:p xmlns:a="http://schemas.openxmlformats.org/drawingml/2006/main">
            <a:r>
              <a:t/>
            </a:r>
          </a:p>
          <a:p xmlns:a="http://schemas.openxmlformats.org/drawingml/2006/main">
            <a:r>
              <a:t>Source: user-supplied Pill Roulette Specification Doc, sections 1–13, and scope document.</a:t>
            </a:r>
          </a:p>
          <a:p xmlns:a="http://schemas.openxmlformats.org/drawingml/2006/main">
            <a:r>
              <a:t>Implementation: Game.java, Player.java, Pill.java.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1:00–1:35 (35 seconds). Main launches the program. Game owns the turn, hidden pill queue and game rules. It requests a command through UserInput and asks GameUi to display the state. Player stores health, while Pill stores whether the pill is cyanide. This diagram explains responsibilities, not a separate thread of execution. Keeping input and output separate lets the tests supply a Scanner and capture a PrintStream.</a:t>
            </a:r>
          </a:p>
          <a:p xmlns:a="http://schemas.openxmlformats.org/drawingml/2006/main">
            <a:r>
              <a:t/>
            </a:r>
          </a:p>
          <a:p xmlns:a="http://schemas.openxmlformats.org/drawingml/2006/main">
            <a:r>
              <a:t>Source: user-supplied Pill Roulette Specification Doc, sections 1–13, and scope document.</a:t>
            </a:r>
          </a:p>
          <a:p xmlns:a="http://schemas.openxmlformats.org/drawingml/2006/main">
            <a:r>
              <a:t>Implementation: Main.java, Game.java, UserInput.java, GameUi.java, Player.java and Pill.java. The diagram consists of editable native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1:35–2:00 (25 seconds). The core game stayed within the original scope. We clarified that both players are local humans, and we made empty pills a draw because the specification checks an empty queue as a game-over condition. End of input exits cleanly. The interaction uses a loop, avoiding repeated recursive input calls. A short tutorial and static ASCII health bars cover two stretch ideas at a smaller size. Animated frames, items and a computer opponent remain outside this implementation.</a:t>
            </a:r>
          </a:p>
          <a:p xmlns:a="http://schemas.openxmlformats.org/drawingml/2006/main">
            <a:r>
              <a:t/>
            </a:r>
          </a:p>
          <a:p xmlns:a="http://schemas.openxmlformats.org/drawingml/2006/main">
            <a:r>
              <a:t>Source: user-supplied Pill Roulette Specification Doc, sections 1–13, and scope document.</a:t>
            </a:r>
          </a:p>
          <a:p xmlns:a="http://schemas.openxmlformats.org/drawingml/2006/main">
            <a:r>
              <a:t>Implementation: Game.java, GameUi.java, Main.java.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2:00–4:00 (2 minutes). Before speaking, open the repository directory in a terminal and make the text large. Run ./scripts/run.sh --demo. The demo sequence is cyanide, sugar, cyanide, sugar, cyanide. It deliberately fixes the order so the presentation is repeatable. The ordinary command ./scripts/run.sh uses shuffled pills.</a:t>
            </a:r>
          </a:p>
          <a:p xmlns:a="http://schemas.openxmlformats.org/drawingml/2006/main">
            <a:r>
              <a:t/>
            </a:r>
          </a:p>
          <a:p xmlns:a="http://schemas.openxmlformats.org/drawingml/2006/main">
            <a:r>
              <a:t>0:00–0:35: show the initial health and counts. Type banana and press Enter. Press Enter on a blank line. Optionally type 0.1, -1 and 12. Read the prompt and show that health, counts and turn stay the same.</a:t>
            </a:r>
          </a:p>
          <a:p xmlns:a="http://schemas.openxmlformats.org/drawingml/2006/main">
            <a:r>
              <a:t>0:35–1:30: type 2, then 1, then 2, then 1, then 2, pressing Enter each time. Player 1 gives each cyanide pill to Player 2. Player 2 takes the sugar pills. Show health changing only for cyanide and the final result.</a:t>
            </a:r>
          </a:p>
          <a:p xmlns:a="http://schemas.openxmlformats.org/drawingml/2006/main">
            <a:r>
              <a:t>1:30–2:00: run ./scripts/test.sh. Point out the successful JUnit result. If networking is unavailable, rehearse once beforehand so the cached JUnit dependency exists.</a:t>
            </a:r>
          </a:p>
          <a:p xmlns:a="http://schemas.openxmlformats.org/drawingml/2006/main">
            <a:r>
              <a:t/>
            </a:r>
          </a:p>
          <a:p xmlns:a="http://schemas.openxmlformats.org/drawingml/2006/main">
            <a:r>
              <a:t>Source: executable scripts and Game.java demo configuration.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4:00–4:55 (55 seconds). Discuss concrete features the audience can inspect. Small classes let us describe and test one responsibility at a time. The input validator handles supported commands before a pill is removed. Fixed pill sequences make expected health and turn changes easy to calculate in tests. A static display communicates the important state without requiring terminal animation. Explain in your own words which of these choices helped you most. Do not claim earlier team experiences that are absent from the project record.</a:t>
            </a:r>
          </a:p>
          <a:p xmlns:a="http://schemas.openxmlformats.org/drawingml/2006/main">
            <a:r>
              <a:t/>
            </a:r>
          </a:p>
          <a:p xmlns:a="http://schemas.openxmlformats.org/drawingml/2006/main">
            <a:r>
              <a:t>Source: user-supplied Pill Roulette Specification Doc, sections 1–13, and scope document.</a:t>
            </a:r>
          </a:p>
          <a:p xmlns:a="http://schemas.openxmlformats.org/drawingml/2006/main">
            <a:r>
              <a:t>Evidence: class boundaries, JUnit game tests and demo configuration in the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4:55–6:00 (65 seconds). The scope described the desired experience. The specification had to decide exactly who owns state and what each input does. It still contained decisions to resolve. For example, the opening description ends when health reaches zero, but the game-over method also ends when pills run out. Another example is asking a String method to reject arbitrary objects: Java handles this at its type boundary unless an Object boundary is intentionally provided. We needed explicit behavior for both. Our original scope also listed unknowns in assertions, powerups, terminal frames and Git. The finished MVP emphasizes rules and validation before the optional items. A useful comparison to Week 3 is that scoping now means choosing observable behavior, edge cases and explicit deferrals. Describe your personal change in understanding in your own words.</a:t>
            </a:r>
          </a:p>
          <a:p xmlns:a="http://schemas.openxmlformats.org/drawingml/2006/main">
            <a:r>
              <a:t/>
            </a:r>
          </a:p>
          <a:p xmlns:a="http://schemas.openxmlformats.org/drawingml/2006/main">
            <a:r>
              <a:t>Source: user-supplied Pill Roulette Specification Doc, sections 1–13, and scope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6:00–6:55 (55 seconds). Our GenAI use was code generation, completion and testing. The prompt shown is an actual excerpt from the request that produced this implementation. The scope and specification supplied the game rules and class responsibilities. GenAI helped turn them into Java classes and fill in repetitive boundary handling and launch scripts. This expanded the amount of code and test scaffolding available to inspect within the work session. Do not claim that the team could not write it independently or give a time-saved number: we have no measured comparison. The value we can demonstrate is the runnable output and the specific checks on the next slide.</a:t>
            </a:r>
          </a:p>
          <a:p xmlns:a="http://schemas.openxmlformats.org/drawingml/2006/main">
            <a:r>
              <a:t/>
            </a:r>
          </a:p>
          <a:p xmlns:a="http://schemas.openxmlformats.org/drawingml/2006/main">
            <a:r>
              <a:t>Source: user message in this task, with the prompt excerpt reproduced exactly. User clarification: “No we are really only using it for code generaation, completion and testing”.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6:55–7:50 (55 seconds). Explain one input assertion, then the stress test. Valid commands should succeed, while decimals and null should fail. The generated test manyInvalidCommandsDoNotOverflowTheCallStack supplies 10,000 bad commands followed by a valid 1. It checks that no exception occurs, 10,000 errors appear, and only the valid action consumes a pill. That volume would be impractical to type during a live demo. Automating it gave us a concrete check of repeated invalid input and the iterative turn loop within this session. This is a demonstrated benefit of GenAI-assisted testing, without an unmeasured time-saved claim. Other tests cover empty pills, EOF and negative damage. We still have to decide the expected result from the rules ourselves.</a:t>
            </a:r>
          </a:p>
          <a:p xmlns:a="http://schemas.openxmlformats.org/drawingml/2006/main">
            <a:r>
              <a:t/>
            </a:r>
          </a:p>
          <a:p xmlns:a="http://schemas.openxmlformats.org/drawingml/2006/main">
            <a:r>
              <a:t>Source: user-supplied Pill Roulette Specification Doc, sections 1–13, and scope document.</a:t>
            </a:r>
          </a:p>
          <a:p xmlns:a="http://schemas.openxmlformats.org/drawingml/2006/main">
            <a:r>
              <a:t>Code example: equivalent assertions against UserInput.isValidInput in UserInputTest.java. Stress-test evidence: GameTest.java, manyInvalidCommandsDoNotOverflowTheCallStack, lines 246–254.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7:50–9:00 (70 seconds). What went well: detailed class contracts and concrete inputs gave code generation a clear target. What went poorly: the first integrated JUnit run passed 62 of 63 tests. One generated test assumed a tutorial heading that differed from the implemented wording. We corrected the assertion to the actual HOW TO PLAY text, then checked the tutorial rules and state-preservation assertions. These cover alternating turns, no extra turn for sugar, and unchanged health and pill counts. We also reviewed the tutorial explanation that the next pill stays hidden until the action resolves. This showed why a generated test failure needs diagnosis: an incorrect expectation can fail working code. Conversely, a generated test can agree with incorrect code, so expected results must come from the rules. After the correction, all 63 tests passed.</a:t>
            </a:r>
          </a:p>
          <a:p xmlns:a="http://schemas.openxmlformats.org/drawingml/2006/main">
            <a:r>
              <a:t/>
            </a:r>
          </a:p>
          <a:p xmlns:a="http://schemas.openxmlformats.org/drawingml/2006/main">
            <a:r>
              <a:t>Source: user-supplied Pill Roulette Specification Doc, sections 1–13, and scope document.</a:t>
            </a:r>
          </a:p>
          <a:p xmlns:a="http://schemas.openxmlformats.org/drawingml/2006/main">
            <a:r>
              <a:t>Evidence: first integrated JUnit result reported in this build session, followed by the verified 63/63 run. GameUiTest.java, tutorialExplainsRulesAndCanBeRepeatedWithoutChangingGame, lines 148–160. GameUi.java, displayTutorial.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9:00–10:00 (60 seconds). Explain a concrete idea you are interested in trying next. A useful candidate is asking GenAI for tests before asking for the implementation, then reviewing those expectations against the rules. Another is asking it to identify missing cases in a small change and using one focused commit after the checks pass. Each teammate should choose the idea they actually want to try, in their own words. End by opening the public repository if needed. The audience can find source, tests, compile and run instructions and the system diagram there. Do not claim a history of group-member commits beyond what Git shows.</a:t>
            </a:r>
          </a:p>
          <a:p xmlns:a="http://schemas.openxmlformats.org/drawingml/2006/main">
            <a:r>
              <a:t/>
            </a:r>
          </a:p>
          <a:p xmlns:a="http://schemas.openxmlformats.org/drawingml/2006/main">
            <a:r>
              <a:t>Source: proposed next-project workflow, not a claim about completed past work. Repository: https://github.com/sahiths2026S/cs2114-project1-group64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cb90e765ff421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49eefa158684f15" /><Relationship Type="http://schemas.openxmlformats.org/officeDocument/2006/relationships/slideLayout" Target="/ppt/slideLayouts/slideLayout1.xml" Id="R0faec1fb3e2149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aec1fb3e2149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c0449ecc8b648f7" /><Relationship Type="http://schemas.openxmlformats.org/officeDocument/2006/relationships/notesSlide" Target="/ppt/notesSlides/notesSlide1.xml" Id="R1c7228c80d314f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f9a7383246e443a" /><Relationship Type="http://schemas.openxmlformats.org/officeDocument/2006/relationships/notesSlide" Target="/ppt/notesSlides/notesSlide2.xml" Id="Rfbcbf7ac2283463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b7387e9929c47cc" /><Relationship Type="http://schemas.openxmlformats.org/officeDocument/2006/relationships/notesSlide" Target="/ppt/notesSlides/notesSlide3.xml" Id="R29af51c703c942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8f9017b9b194f7b" /><Relationship Type="http://schemas.openxmlformats.org/officeDocument/2006/relationships/notesSlide" Target="/ppt/notesSlides/notesSlide4.xml" Id="R9753be2976ac4f8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9997f51048e4fd4" /><Relationship Type="http://schemas.openxmlformats.org/officeDocument/2006/relationships/notesSlide" Target="/ppt/notesSlides/notesSlide5.xml" Id="Rc47a6242eeec40c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3f5b6da28e34bcb" /><Relationship Type="http://schemas.openxmlformats.org/officeDocument/2006/relationships/notesSlide" Target="/ppt/notesSlides/notesSlide6.xml" Id="R7cc9cd28c2cd47b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e8c2165bb574c04" /><Relationship Type="http://schemas.openxmlformats.org/officeDocument/2006/relationships/notesSlide" Target="/ppt/notesSlides/notesSlide7.xml" Id="R936cfd8cb4514b9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5e72dbddd5b4403" /><Relationship Type="http://schemas.openxmlformats.org/officeDocument/2006/relationships/notesSlide" Target="/ppt/notesSlides/notesSlide8.xml" Id="Rca534b24fdd1420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aa17b0e08bc4d45" /><Relationship Type="http://schemas.openxmlformats.org/officeDocument/2006/relationships/notesSlide" Target="/ppt/notesSlides/notesSlide9.xml" Id="Ra2abc3e8df32495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43370f5164040a7" /><Relationship Type="http://schemas.openxmlformats.org/officeDocument/2006/relationships/notesSlide" Target="/ppt/notesSlides/notesSlide10.xml" Id="R9e47561764524cc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43b38d6d2134c1c" /><Relationship Type="http://schemas.openxmlformats.org/officeDocument/2006/relationships/hyperlink" Target="https://github.com/sahiths2026S/cs2114-project1-group64" TargetMode="External" Id="R36ea5a78c32845a9" /><Relationship Type="http://schemas.openxmlformats.org/officeDocument/2006/relationships/notesSlide" Target="/ppt/notesSlides/notesSlide11.xml" Id="Rf9acbfc06e454f50" /></Relationships>
</file>

<file path=ppt/slides/slide1.xml><?xml version="1.0" encoding="utf-8"?>
<p:sld xmlns:p="http://schemas.openxmlformats.org/presentationml/2006/main">
  <p:cSld>
    <p:bg>
      <p:bgPr>
        <a:solidFill xmlns:a="http://schemas.openxmlformats.org/drawingml/2006/main">
          <a:srgbClr val="F2F2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008BC4A-56EE-4B1A-B828-721BA1836508}"/>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1">
                <a:solidFill>
                  <a:srgbClr val="3C3C3C"/>
                </a:solidFill>
                <a:latin typeface="Arial"/>
                <a:ea typeface="Arial"/>
                <a:cs typeface="Arial"/>
              </a:defRPr>
            </a:pPr>
            <a:r>
              <a:rPr sz="3375" b="1">
                <a:solidFill>
                  <a:srgbClr val="3C3C3C"/>
                </a:solidFill>
                <a:latin typeface="Arial"/>
                <a:ea typeface="Arial"/>
                <a:cs typeface="Arial"/>
              </a:rPr>
              <a:t>Pill Roulette</a:t>
            </a:r>
          </a:p>
        </p:txBody>
      </p:sp>
      <p:sp>
        <p:nvSpPr>
          <p:cNvPr id="2" name="">
            <a:extLst xmlns:a="http://schemas.openxmlformats.org/drawingml/2006/main">
              <a:ext uri="{FF2B5EF4-FFF2-40B4-BE49-F238E27FC236}">
                <a16:creationId xmlns:a16="http://schemas.microsoft.com/office/drawing/2014/main" id="{AAF87D97-F84A-48FC-B13A-BD124BE92AEA}"/>
              </a:ext>
            </a:extLst>
          </p:cNvPr>
          <p:cNvSpPr>
            <a:spLocks xmlns:a="http://schemas.openxmlformats.org/drawingml/2006/main" noGrp="1"/>
          </p:cNvSpPr>
          <p:nvPr/>
        </p:nvSpPr>
        <p:spPr>
          <a:xfrm xmlns:a="http://schemas.openxmlformats.org/drawingml/2006/main">
            <a:off x="10953750" y="631507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425" b="0">
                <a:solidFill>
                  <a:srgbClr val="666666"/>
                </a:solidFill>
                <a:latin typeface="Arial"/>
                <a:ea typeface="Arial"/>
                <a:cs typeface="Arial"/>
              </a:defRPr>
            </a:pPr>
            <a:r>
              <a:rPr sz="1425" b="0">
                <a:solidFill>
                  <a:srgbClr val="666666"/>
                </a:solidFill>
                <a:latin typeface="Arial"/>
                <a:ea typeface="Arial"/>
                <a:cs typeface="Arial"/>
              </a:rPr>
              <a:t>1</a:t>
            </a:r>
          </a:p>
        </p:txBody>
      </p:sp>
      <p:sp>
        <p:nvSpPr>
          <p:cNvPr id="3" name="">
            <a:extLst xmlns:a="http://schemas.openxmlformats.org/drawingml/2006/main">
              <a:ext uri="{FF2B5EF4-FFF2-40B4-BE49-F238E27FC236}">
                <a16:creationId xmlns:a16="http://schemas.microsoft.com/office/drawing/2014/main" id="{EB5B0435-2690-4C2F-8036-922373DF9AB4}"/>
              </a:ext>
            </a:extLst>
          </p:cNvPr>
          <p:cNvSpPr>
            <a:spLocks xmlns:a="http://schemas.openxmlformats.org/drawingml/2006/main" noGrp="1"/>
          </p:cNvSpPr>
          <p:nvPr/>
        </p:nvSpPr>
        <p:spPr>
          <a:xfrm xmlns:a="http://schemas.openxmlformats.org/drawingml/2006/main">
            <a:off x="685800" y="2028825"/>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925" b="0">
                <a:solidFill>
                  <a:srgbClr val="3C3C3C"/>
                </a:solidFill>
                <a:latin typeface="Arial"/>
                <a:ea typeface="Arial"/>
                <a:cs typeface="Arial"/>
              </a:defRPr>
            </a:pPr>
            <a:r>
              <a:rPr sz="2925" b="0">
                <a:solidFill>
                  <a:srgbClr val="3C3C3C"/>
                </a:solidFill>
                <a:latin typeface="Arial"/>
                <a:ea typeface="Arial"/>
                <a:cs typeface="Arial"/>
              </a:rPr>
              <a:t>A two-player prediction game in Java</a:t>
            </a:r>
          </a:p>
        </p:txBody>
      </p:sp>
      <p:sp>
        <p:nvSpPr>
          <p:cNvPr id="4" name="">
            <a:extLst xmlns:a="http://schemas.openxmlformats.org/drawingml/2006/main">
              <a:ext uri="{FF2B5EF4-FFF2-40B4-BE49-F238E27FC236}">
                <a16:creationId xmlns:a16="http://schemas.microsoft.com/office/drawing/2014/main" id="{180DAEBE-7658-4A7C-A3D3-9D10F3D795F6}"/>
              </a:ext>
            </a:extLst>
          </p:cNvPr>
          <p:cNvSpPr>
            <a:spLocks xmlns:a="http://schemas.openxmlformats.org/drawingml/2006/main" noGrp="1"/>
          </p:cNvSpPr>
          <p:nvPr/>
        </p:nvSpPr>
        <p:spPr>
          <a:xfrm xmlns:a="http://schemas.openxmlformats.org/drawingml/2006/main">
            <a:off x="685800" y="3133725"/>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666666"/>
                </a:solidFill>
                <a:latin typeface="Arial"/>
                <a:ea typeface="Arial"/>
                <a:cs typeface="Arial"/>
              </a:defRPr>
            </a:pPr>
            <a:r>
              <a:rPr sz="2175" b="0">
                <a:solidFill>
                  <a:srgbClr val="666666"/>
                </a:solidFill>
                <a:latin typeface="Arial"/>
                <a:ea typeface="Arial"/>
                <a:cs typeface="Arial"/>
              </a:rPr>
              <a:t>CS 2114 · Project 1 · Group 64</a:t>
            </a:r>
          </a:p>
        </p:txBody>
      </p:sp>
      <p:sp>
        <p:nvSpPr>
          <p:cNvPr id="5" name="">
            <a:extLst xmlns:a="http://schemas.openxmlformats.org/drawingml/2006/main">
              <a:ext uri="{FF2B5EF4-FFF2-40B4-BE49-F238E27FC236}">
                <a16:creationId xmlns:a16="http://schemas.microsoft.com/office/drawing/2014/main" id="{8A68AC73-E188-46F6-A382-8B86ECD7B39F}"/>
              </a:ext>
            </a:extLst>
          </p:cNvPr>
          <p:cNvSpPr>
            <a:spLocks xmlns:a="http://schemas.openxmlformats.org/drawingml/2006/main" noGrp="1"/>
          </p:cNvSpPr>
          <p:nvPr/>
        </p:nvSpPr>
        <p:spPr>
          <a:xfrm xmlns:a="http://schemas.openxmlformats.org/drawingml/2006/main">
            <a:off x="685800" y="4429125"/>
            <a:ext cx="1000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3C3C3C"/>
                </a:solidFill>
                <a:latin typeface="Arial"/>
                <a:ea typeface="Arial"/>
                <a:cs typeface="Arial"/>
              </a:defRPr>
            </a:pPr>
            <a:r>
              <a:rPr sz="2175" b="0">
                <a:solidFill>
                  <a:srgbClr val="3C3C3C"/>
                </a:solidFill>
                <a:latin typeface="Arial"/>
                <a:ea typeface="Arial"/>
                <a:cs typeface="Arial"/>
              </a:rPr>
              <a:t>What we built</a:t>
            </a:r>
          </a:p>
          <a:p xmlns:a="http://schemas.openxmlformats.org/drawingml/2006/main">
            <a:pPr>
              <a:defRPr sz="2175" b="0">
                <a:solidFill>
                  <a:srgbClr val="3C3C3C"/>
                </a:solidFill>
                <a:latin typeface="Arial"/>
                <a:ea typeface="Arial"/>
                <a:cs typeface="Arial"/>
              </a:defRPr>
            </a:pPr>
            <a:r>
              <a:rPr sz="2175" b="0">
                <a:solidFill>
                  <a:srgbClr val="3C3C3C"/>
                </a:solidFill>
                <a:latin typeface="Arial"/>
                <a:ea typeface="Arial"/>
                <a:cs typeface="Arial"/>
              </a:rPr>
              <a:t>Live demo</a:t>
            </a:r>
          </a:p>
          <a:p xmlns:a="http://schemas.openxmlformats.org/drawingml/2006/main">
            <a:pPr>
              <a:defRPr sz="2175" b="0">
                <a:solidFill>
                  <a:srgbClr val="3C3C3C"/>
                </a:solidFill>
                <a:latin typeface="Arial"/>
                <a:ea typeface="Arial"/>
                <a:cs typeface="Arial"/>
              </a:defRPr>
            </a:pPr>
            <a:r>
              <a:rPr sz="2175" b="0">
                <a:solidFill>
                  <a:srgbClr val="3C3C3C"/>
                </a:solidFill>
                <a:latin typeface="Arial"/>
                <a:ea typeface="Arial"/>
                <a:cs typeface="Arial"/>
              </a:rPr>
              <a:t>Scoping and GenAI</a:t>
            </a:r>
          </a:p>
        </p:txBody>
      </p:sp>
    </p:spTree>
    <p:extLst>
      <p:ext uri="{BB962C8B-B14F-4D97-AF65-F5344CB8AC3E}">
        <p14:creationId xmlns:p14="http://schemas.microsoft.com/office/powerpoint/2010/main" val="900502108"/>
      </p:ext>
    </p:extLst>
  </p:cSld>
</p:sld>
</file>

<file path=ppt/slides/slide2.xml><?xml version="1.0" encoding="utf-8"?>
<p:sld xmlns:p="http://schemas.openxmlformats.org/presentationml/2006/main">
  <p:cSld>
    <p:bg>
      <p:bgPr>
        <a:solidFill xmlns:a="http://schemas.openxmlformats.org/drawingml/2006/main">
          <a:srgbClr val="F2F2F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1D7107B-9B52-42C2-9B8F-F3720C87965A}"/>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1">
                <a:solidFill>
                  <a:srgbClr val="3C3C3C"/>
                </a:solidFill>
                <a:latin typeface="Arial"/>
                <a:ea typeface="Arial"/>
                <a:cs typeface="Arial"/>
              </a:defRPr>
            </a:pPr>
            <a:r>
              <a:rPr sz="3375" b="1">
                <a:solidFill>
                  <a:srgbClr val="3C3C3C"/>
                </a:solidFill>
                <a:latin typeface="Arial"/>
                <a:ea typeface="Arial"/>
                <a:cs typeface="Arial"/>
              </a:rPr>
              <a:t>The playable MVP</a:t>
            </a:r>
          </a:p>
        </p:txBody>
      </p:sp>
      <p:sp>
        <p:nvSpPr>
          <p:cNvPr id="2" name="">
            <a:extLst xmlns:a="http://schemas.openxmlformats.org/drawingml/2006/main">
              <a:ext uri="{FF2B5EF4-FFF2-40B4-BE49-F238E27FC236}">
                <a16:creationId xmlns:a16="http://schemas.microsoft.com/office/drawing/2014/main" id="{520ADAD0-4B2B-406E-A08A-213F85429CF1}"/>
              </a:ext>
            </a:extLst>
          </p:cNvPr>
          <p:cNvSpPr>
            <a:spLocks xmlns:a="http://schemas.openxmlformats.org/drawingml/2006/main" noGrp="1"/>
          </p:cNvSpPr>
          <p:nvPr/>
        </p:nvSpPr>
        <p:spPr>
          <a:xfrm xmlns:a="http://schemas.openxmlformats.org/drawingml/2006/main">
            <a:off x="10953750" y="631507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425" b="0">
                <a:solidFill>
                  <a:srgbClr val="666666"/>
                </a:solidFill>
                <a:latin typeface="Arial"/>
                <a:ea typeface="Arial"/>
                <a:cs typeface="Arial"/>
              </a:defRPr>
            </a:pPr>
            <a:r>
              <a:rPr sz="1425" b="0">
                <a:solidFill>
                  <a:srgbClr val="666666"/>
                </a:solidFill>
                <a:latin typeface="Arial"/>
                <a:ea typeface="Arial"/>
                <a:cs typeface="Arial"/>
              </a:rPr>
              <a:t>2</a:t>
            </a:r>
          </a:p>
        </p:txBody>
      </p:sp>
      <p:sp>
        <p:nvSpPr>
          <p:cNvPr id="3" name="">
            <a:extLst xmlns:a="http://schemas.openxmlformats.org/drawingml/2006/main">
              <a:ext uri="{FF2B5EF4-FFF2-40B4-BE49-F238E27FC236}">
                <a16:creationId xmlns:a16="http://schemas.microsoft.com/office/drawing/2014/main" id="{A58F3278-564C-4CFC-A509-C8A884CBD0E6}"/>
              </a:ext>
            </a:extLst>
          </p:cNvPr>
          <p:cNvSpPr>
            <a:spLocks xmlns:a="http://schemas.openxmlformats.org/drawingml/2006/main" noGrp="1"/>
          </p:cNvSpPr>
          <p:nvPr/>
        </p:nvSpPr>
        <p:spPr>
          <a:xfrm xmlns:a="http://schemas.openxmlformats.org/drawingml/2006/main">
            <a:off x="742950" y="1714500"/>
            <a:ext cx="104775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79400" indent="-139700">
              <a:spcAft>
                <a:spcPts val="1600"/>
              </a:spcAft>
              <a:buChar char="•"/>
              <a:defRPr sz="2475" b="0">
                <a:solidFill>
                  <a:srgbClr val="3C3C3C"/>
                </a:solidFill>
                <a:latin typeface="Arial"/>
                <a:ea typeface="Arial"/>
                <a:cs typeface="Arial"/>
              </a:defRPr>
            </a:pPr>
            <a:r>
              <a:t>Two local players start with 3 health each.</a:t>
            </a:r>
          </a:p>
          <a:p xmlns:a="http://schemas.openxmlformats.org/drawingml/2006/main">
            <a:pPr marL="279400" indent="-139700">
              <a:spcAft>
                <a:spcPts val="1600"/>
              </a:spcAft>
              <a:buChar char="•"/>
              <a:defRPr sz="2475" b="0">
                <a:solidFill>
                  <a:srgbClr val="3C3C3C"/>
                </a:solidFill>
                <a:latin typeface="Arial"/>
                <a:ea typeface="Arial"/>
                <a:cs typeface="Arial"/>
              </a:defRPr>
            </a:pPr>
            <a:r>
              <a:t>Choose 1 to take the pill or 2 to give it.</a:t>
            </a:r>
          </a:p>
          <a:p xmlns:a="http://schemas.openxmlformats.org/drawingml/2006/main">
            <a:pPr marL="279400" indent="-139700">
              <a:spcAft>
                <a:spcPts val="1600"/>
              </a:spcAft>
              <a:buChar char="•"/>
              <a:defRPr sz="2475" b="0">
                <a:solidFill>
                  <a:srgbClr val="3C3C3C"/>
                </a:solidFill>
                <a:latin typeface="Arial"/>
                <a:ea typeface="Arial"/>
                <a:cs typeface="Arial"/>
              </a:defRPr>
            </a:pPr>
            <a:r>
              <a:t>Cyanide costs 1 health. Sugar causes no damage.</a:t>
            </a:r>
          </a:p>
          <a:p xmlns:a="http://schemas.openxmlformats.org/drawingml/2006/main">
            <a:pPr marL="279400" indent="-139700">
              <a:spcAft>
                <a:spcPts val="1600"/>
              </a:spcAft>
              <a:buChar char="•"/>
              <a:defRPr sz="2475" b="0">
                <a:solidFill>
                  <a:srgbClr val="3C3C3C"/>
                </a:solidFill>
                <a:latin typeface="Arial"/>
                <a:ea typeface="Arial"/>
                <a:cs typeface="Arial"/>
              </a:defRPr>
            </a:pPr>
            <a:r>
              <a:t>The display shows health and remaining pill counts.</a:t>
            </a:r>
          </a:p>
          <a:p xmlns:a="http://schemas.openxmlformats.org/drawingml/2006/main">
            <a:pPr marL="279400" indent="-139700">
              <a:spcAft>
                <a:spcPts val="1600"/>
              </a:spcAft>
              <a:buChar char="•"/>
              <a:defRPr sz="2475" b="0">
                <a:solidFill>
                  <a:srgbClr val="3C3C3C"/>
                </a:solidFill>
                <a:latin typeface="Arial"/>
                <a:ea typeface="Arial"/>
                <a:cs typeface="Arial"/>
              </a:defRPr>
            </a:pPr>
            <a:r>
              <a:t>A player at zero health loses. Both alive with no pills is a draw.</a:t>
            </a:r>
          </a:p>
        </p:txBody>
      </p:sp>
    </p:spTree>
    <p:extLst>
      <p:ext uri="{BB962C8B-B14F-4D97-AF65-F5344CB8AC3E}">
        <p14:creationId xmlns:p14="http://schemas.microsoft.com/office/powerpoint/2010/main" val="692819821"/>
      </p:ext>
    </p:extLst>
  </p:cSld>
</p:sld>
</file>

<file path=ppt/slides/slide3.xml><?xml version="1.0" encoding="utf-8"?>
<p:sld xmlns:p="http://schemas.openxmlformats.org/presentationml/2006/main">
  <p:cSld>
    <p:bg>
      <p:bgPr>
        <a:solidFill xmlns:a="http://schemas.openxmlformats.org/drawingml/2006/main">
          <a:srgbClr val="F2F2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1A298A1-19C2-42FB-8B1A-30A19045D345}"/>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1">
                <a:solidFill>
                  <a:srgbClr val="3C3C3C"/>
                </a:solidFill>
                <a:latin typeface="Arial"/>
                <a:ea typeface="Arial"/>
                <a:cs typeface="Arial"/>
              </a:defRPr>
            </a:pPr>
            <a:r>
              <a:rPr sz="3375" b="1">
                <a:solidFill>
                  <a:srgbClr val="3C3C3C"/>
                </a:solidFill>
                <a:latin typeface="Arial"/>
                <a:ea typeface="Arial"/>
                <a:cs typeface="Arial"/>
              </a:rPr>
              <a:t>System diagram</a:t>
            </a:r>
          </a:p>
        </p:txBody>
      </p:sp>
      <p:sp>
        <p:nvSpPr>
          <p:cNvPr id="2" name="">
            <a:extLst xmlns:a="http://schemas.openxmlformats.org/drawingml/2006/main">
              <a:ext uri="{FF2B5EF4-FFF2-40B4-BE49-F238E27FC236}">
                <a16:creationId xmlns:a16="http://schemas.microsoft.com/office/drawing/2014/main" id="{2FFF15B5-A2D6-47FD-8EEB-636F1E156A14}"/>
              </a:ext>
            </a:extLst>
          </p:cNvPr>
          <p:cNvSpPr>
            <a:spLocks xmlns:a="http://schemas.openxmlformats.org/drawingml/2006/main" noGrp="1"/>
          </p:cNvSpPr>
          <p:nvPr/>
        </p:nvSpPr>
        <p:spPr>
          <a:xfrm xmlns:a="http://schemas.openxmlformats.org/drawingml/2006/main">
            <a:off x="10953750" y="631507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425" b="0">
                <a:solidFill>
                  <a:srgbClr val="666666"/>
                </a:solidFill>
                <a:latin typeface="Arial"/>
                <a:ea typeface="Arial"/>
                <a:cs typeface="Arial"/>
              </a:defRPr>
            </a:pPr>
            <a:r>
              <a:rPr sz="1425" b="0">
                <a:solidFill>
                  <a:srgbClr val="666666"/>
                </a:solidFill>
                <a:latin typeface="Arial"/>
                <a:ea typeface="Arial"/>
                <a:cs typeface="Arial"/>
              </a:rPr>
              <a:t>3</a:t>
            </a:r>
          </a:p>
        </p:txBody>
      </p:sp>
      <p:sp>
        <p:nvSpPr>
          <p:cNvPr id="3" name="">
            <a:extLst xmlns:a="http://schemas.openxmlformats.org/drawingml/2006/main">
              <a:ext uri="{FF2B5EF4-FFF2-40B4-BE49-F238E27FC236}">
                <a16:creationId xmlns:a16="http://schemas.microsoft.com/office/drawing/2014/main" id="{FB0ED8CE-F04B-4DF3-AB36-E83C65B76E78}"/>
              </a:ext>
            </a:extLst>
          </p:cNvPr>
          <p:cNvSpPr>
            <a:spLocks xmlns:a="http://schemas.openxmlformats.org/drawingml/2006/main" noGrp="1"/>
          </p:cNvSpPr>
          <p:nvPr/>
        </p:nvSpPr>
        <p:spPr>
          <a:xfrm xmlns:a="http://schemas.openxmlformats.org/drawingml/2006/main">
            <a:off x="4762500" y="1495425"/>
            <a:ext cx="2667000" cy="781050"/>
          </a:xfrm>
          <a:prstGeom xmlns:a="http://schemas.openxmlformats.org/drawingml/2006/main" prst="rect">
            <a:avLst/>
          </a:prstGeom>
          <a:solidFill xmlns:a="http://schemas.openxmlformats.org/drawingml/2006/main">
            <a:srgbClr val="F2F2F2"/>
          </a:solidFill>
          <a:ln xmlns:a="http://schemas.openxmlformats.org/drawingml/2006/main" w="19050">
            <a:solidFill>
              <a:srgbClr val="9B9B9B"/>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1950">
                <a:solidFill>
                  <a:srgbClr val="3C3C3C"/>
                </a:solidFill>
                <a:latin typeface="Arial"/>
                <a:ea typeface="Arial"/>
                <a:cs typeface="Arial"/>
              </a:defRPr>
            </a:pPr>
            <a:r>
              <a:rPr sz="1950">
                <a:solidFill>
                  <a:srgbClr val="3C3C3C"/>
                </a:solidFill>
                <a:latin typeface="Arial"/>
                <a:ea typeface="Arial"/>
                <a:cs typeface="Arial"/>
              </a:rPr>
              <a:t>Main</a:t>
            </a:r>
          </a:p>
          <a:p xmlns:a="http://schemas.openxmlformats.org/drawingml/2006/main">
            <a:pPr algn="ctr">
              <a:defRPr sz="1950">
                <a:solidFill>
                  <a:srgbClr val="3C3C3C"/>
                </a:solidFill>
                <a:latin typeface="Arial"/>
                <a:ea typeface="Arial"/>
                <a:cs typeface="Arial"/>
              </a:defRPr>
            </a:pPr>
            <a:r>
              <a:rPr sz="1950">
                <a:solidFill>
                  <a:srgbClr val="3C3C3C"/>
                </a:solidFill>
                <a:latin typeface="Arial"/>
                <a:ea typeface="Arial"/>
                <a:cs typeface="Arial"/>
              </a:rPr>
              <a:t>launches the game</a:t>
            </a:r>
          </a:p>
        </p:txBody>
      </p:sp>
      <p:sp>
        <p:nvSpPr>
          <p:cNvPr id="4" name="">
            <a:extLst xmlns:a="http://schemas.openxmlformats.org/drawingml/2006/main">
              <a:ext uri="{FF2B5EF4-FFF2-40B4-BE49-F238E27FC236}">
                <a16:creationId xmlns:a16="http://schemas.microsoft.com/office/drawing/2014/main" id="{84A5AAC5-6D9C-49CD-807B-EA0C120495A9}"/>
              </a:ext>
            </a:extLst>
          </p:cNvPr>
          <p:cNvSpPr>
            <a:spLocks xmlns:a="http://schemas.openxmlformats.org/drawingml/2006/main" noGrp="1"/>
          </p:cNvSpPr>
          <p:nvPr/>
        </p:nvSpPr>
        <p:spPr>
          <a:xfrm xmlns:a="http://schemas.openxmlformats.org/drawingml/2006/main">
            <a:off x="762000" y="3019425"/>
            <a:ext cx="2809875" cy="952500"/>
          </a:xfrm>
          <a:prstGeom xmlns:a="http://schemas.openxmlformats.org/drawingml/2006/main" prst="rect">
            <a:avLst/>
          </a:prstGeom>
          <a:solidFill xmlns:a="http://schemas.openxmlformats.org/drawingml/2006/main">
            <a:srgbClr val="F2F2F2"/>
          </a:solidFill>
          <a:ln xmlns:a="http://schemas.openxmlformats.org/drawingml/2006/main" w="19050">
            <a:solidFill>
              <a:srgbClr val="9B9B9B"/>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1950">
                <a:solidFill>
                  <a:srgbClr val="3C3C3C"/>
                </a:solidFill>
                <a:latin typeface="Arial"/>
                <a:ea typeface="Arial"/>
                <a:cs typeface="Arial"/>
              </a:defRPr>
            </a:pPr>
            <a:r>
              <a:rPr sz="1950">
                <a:solidFill>
                  <a:srgbClr val="3C3C3C"/>
                </a:solidFill>
                <a:latin typeface="Arial"/>
                <a:ea typeface="Arial"/>
                <a:cs typeface="Arial"/>
              </a:rPr>
              <a:t>UserInput</a:t>
            </a:r>
          </a:p>
          <a:p xmlns:a="http://schemas.openxmlformats.org/drawingml/2006/main">
            <a:pPr algn="ctr">
              <a:defRPr sz="1950">
                <a:solidFill>
                  <a:srgbClr val="3C3C3C"/>
                </a:solidFill>
                <a:latin typeface="Arial"/>
                <a:ea typeface="Arial"/>
                <a:cs typeface="Arial"/>
              </a:defRPr>
            </a:pPr>
            <a:r>
              <a:rPr sz="1950">
                <a:solidFill>
                  <a:srgbClr val="3C3C3C"/>
                </a:solidFill>
                <a:latin typeface="Arial"/>
                <a:ea typeface="Arial"/>
                <a:cs typeface="Arial"/>
              </a:rPr>
              <a:t>reads and validates</a:t>
            </a:r>
          </a:p>
        </p:txBody>
      </p:sp>
      <p:sp>
        <p:nvSpPr>
          <p:cNvPr id="5" name="">
            <a:extLst xmlns:a="http://schemas.openxmlformats.org/drawingml/2006/main">
              <a:ext uri="{FF2B5EF4-FFF2-40B4-BE49-F238E27FC236}">
                <a16:creationId xmlns:a16="http://schemas.microsoft.com/office/drawing/2014/main" id="{816DFCF1-1ED6-444D-AA83-4E74CC43905E}"/>
              </a:ext>
            </a:extLst>
          </p:cNvPr>
          <p:cNvSpPr>
            <a:spLocks xmlns:a="http://schemas.openxmlformats.org/drawingml/2006/main" noGrp="1"/>
          </p:cNvSpPr>
          <p:nvPr/>
        </p:nvSpPr>
        <p:spPr>
          <a:xfrm xmlns:a="http://schemas.openxmlformats.org/drawingml/2006/main">
            <a:off x="4572000" y="2924175"/>
            <a:ext cx="3048000" cy="1143000"/>
          </a:xfrm>
          <a:prstGeom xmlns:a="http://schemas.openxmlformats.org/drawingml/2006/main" prst="rect">
            <a:avLst/>
          </a:prstGeom>
          <a:solidFill xmlns:a="http://schemas.openxmlformats.org/drawingml/2006/main">
            <a:srgbClr val="F2F2F2"/>
          </a:solidFill>
          <a:ln xmlns:a="http://schemas.openxmlformats.org/drawingml/2006/main" w="19050">
            <a:solidFill>
              <a:srgbClr val="9B9B9B"/>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1950">
                <a:solidFill>
                  <a:srgbClr val="3C3C3C"/>
                </a:solidFill>
                <a:latin typeface="Arial"/>
                <a:ea typeface="Arial"/>
                <a:cs typeface="Arial"/>
              </a:defRPr>
            </a:pPr>
            <a:r>
              <a:rPr sz="1950">
                <a:solidFill>
                  <a:srgbClr val="3C3C3C"/>
                </a:solidFill>
                <a:latin typeface="Arial"/>
                <a:ea typeface="Arial"/>
                <a:cs typeface="Arial"/>
              </a:rPr>
              <a:t>Game</a:t>
            </a:r>
          </a:p>
          <a:p xmlns:a="http://schemas.openxmlformats.org/drawingml/2006/main">
            <a:pPr algn="ctr">
              <a:defRPr sz="1950">
                <a:solidFill>
                  <a:srgbClr val="3C3C3C"/>
                </a:solidFill>
                <a:latin typeface="Arial"/>
                <a:ea typeface="Arial"/>
                <a:cs typeface="Arial"/>
              </a:defRPr>
            </a:pPr>
            <a:r>
              <a:rPr sz="1950">
                <a:solidFill>
                  <a:srgbClr val="3C3C3C"/>
                </a:solidFill>
                <a:latin typeface="Arial"/>
                <a:ea typeface="Arial"/>
                <a:cs typeface="Arial"/>
              </a:rPr>
              <a:t>turns, queue and rules</a:t>
            </a:r>
          </a:p>
        </p:txBody>
      </p:sp>
      <p:sp>
        <p:nvSpPr>
          <p:cNvPr id="6" name="">
            <a:extLst xmlns:a="http://schemas.openxmlformats.org/drawingml/2006/main">
              <a:ext uri="{FF2B5EF4-FFF2-40B4-BE49-F238E27FC236}">
                <a16:creationId xmlns:a16="http://schemas.microsoft.com/office/drawing/2014/main" id="{751A1C15-FF30-4C56-8E60-9587646A9770}"/>
              </a:ext>
            </a:extLst>
          </p:cNvPr>
          <p:cNvSpPr>
            <a:spLocks xmlns:a="http://schemas.openxmlformats.org/drawingml/2006/main" noGrp="1"/>
          </p:cNvSpPr>
          <p:nvPr/>
        </p:nvSpPr>
        <p:spPr>
          <a:xfrm xmlns:a="http://schemas.openxmlformats.org/drawingml/2006/main">
            <a:off x="8620125" y="3019425"/>
            <a:ext cx="2809875" cy="952500"/>
          </a:xfrm>
          <a:prstGeom xmlns:a="http://schemas.openxmlformats.org/drawingml/2006/main" prst="rect">
            <a:avLst/>
          </a:prstGeom>
          <a:solidFill xmlns:a="http://schemas.openxmlformats.org/drawingml/2006/main">
            <a:srgbClr val="F2F2F2"/>
          </a:solidFill>
          <a:ln xmlns:a="http://schemas.openxmlformats.org/drawingml/2006/main" w="19050">
            <a:solidFill>
              <a:srgbClr val="9B9B9B"/>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1950">
                <a:solidFill>
                  <a:srgbClr val="3C3C3C"/>
                </a:solidFill>
                <a:latin typeface="Arial"/>
                <a:ea typeface="Arial"/>
                <a:cs typeface="Arial"/>
              </a:defRPr>
            </a:pPr>
            <a:r>
              <a:rPr sz="1950">
                <a:solidFill>
                  <a:srgbClr val="3C3C3C"/>
                </a:solidFill>
                <a:latin typeface="Arial"/>
                <a:ea typeface="Arial"/>
                <a:cs typeface="Arial"/>
              </a:rPr>
              <a:t>GameUi</a:t>
            </a:r>
          </a:p>
          <a:p xmlns:a="http://schemas.openxmlformats.org/drawingml/2006/main">
            <a:pPr algn="ctr">
              <a:defRPr sz="1950">
                <a:solidFill>
                  <a:srgbClr val="3C3C3C"/>
                </a:solidFill>
                <a:latin typeface="Arial"/>
                <a:ea typeface="Arial"/>
                <a:cs typeface="Arial"/>
              </a:defRPr>
            </a:pPr>
            <a:r>
              <a:rPr sz="1950">
                <a:solidFill>
                  <a:srgbClr val="3C3C3C"/>
                </a:solidFill>
                <a:latin typeface="Arial"/>
                <a:ea typeface="Arial"/>
                <a:cs typeface="Arial"/>
              </a:rPr>
              <a:t>prints the state</a:t>
            </a:r>
          </a:p>
        </p:txBody>
      </p:sp>
      <p:sp>
        <p:nvSpPr>
          <p:cNvPr id="7" name="">
            <a:extLst xmlns:a="http://schemas.openxmlformats.org/drawingml/2006/main">
              <a:ext uri="{FF2B5EF4-FFF2-40B4-BE49-F238E27FC236}">
                <a16:creationId xmlns:a16="http://schemas.microsoft.com/office/drawing/2014/main" id="{E8A36F74-F6AF-41CB-8152-84FDB4476588}"/>
              </a:ext>
            </a:extLst>
          </p:cNvPr>
          <p:cNvSpPr>
            <a:spLocks xmlns:a="http://schemas.openxmlformats.org/drawingml/2006/main" noGrp="1"/>
          </p:cNvSpPr>
          <p:nvPr/>
        </p:nvSpPr>
        <p:spPr>
          <a:xfrm xmlns:a="http://schemas.openxmlformats.org/drawingml/2006/main">
            <a:off x="3381375" y="4791075"/>
            <a:ext cx="2571750" cy="952500"/>
          </a:xfrm>
          <a:prstGeom xmlns:a="http://schemas.openxmlformats.org/drawingml/2006/main" prst="rect">
            <a:avLst/>
          </a:prstGeom>
          <a:solidFill xmlns:a="http://schemas.openxmlformats.org/drawingml/2006/main">
            <a:srgbClr val="F2F2F2"/>
          </a:solidFill>
          <a:ln xmlns:a="http://schemas.openxmlformats.org/drawingml/2006/main" w="19050">
            <a:solidFill>
              <a:srgbClr val="9B9B9B"/>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1950">
                <a:solidFill>
                  <a:srgbClr val="3C3C3C"/>
                </a:solidFill>
                <a:latin typeface="Arial"/>
                <a:ea typeface="Arial"/>
                <a:cs typeface="Arial"/>
              </a:defRPr>
            </a:pPr>
            <a:r>
              <a:rPr sz="1950">
                <a:solidFill>
                  <a:srgbClr val="3C3C3C"/>
                </a:solidFill>
                <a:latin typeface="Arial"/>
                <a:ea typeface="Arial"/>
                <a:cs typeface="Arial"/>
              </a:rPr>
              <a:t>Player</a:t>
            </a:r>
          </a:p>
          <a:p xmlns:a="http://schemas.openxmlformats.org/drawingml/2006/main">
            <a:pPr algn="ctr">
              <a:defRPr sz="1950">
                <a:solidFill>
                  <a:srgbClr val="3C3C3C"/>
                </a:solidFill>
                <a:latin typeface="Arial"/>
                <a:ea typeface="Arial"/>
                <a:cs typeface="Arial"/>
              </a:defRPr>
            </a:pPr>
            <a:r>
              <a:rPr sz="1950">
                <a:solidFill>
                  <a:srgbClr val="3C3C3C"/>
                </a:solidFill>
                <a:latin typeface="Arial"/>
                <a:ea typeface="Arial"/>
                <a:cs typeface="Arial"/>
              </a:rPr>
              <a:t>health</a:t>
            </a:r>
          </a:p>
        </p:txBody>
      </p:sp>
      <p:sp>
        <p:nvSpPr>
          <p:cNvPr id="8" name="">
            <a:extLst xmlns:a="http://schemas.openxmlformats.org/drawingml/2006/main">
              <a:ext uri="{FF2B5EF4-FFF2-40B4-BE49-F238E27FC236}">
                <a16:creationId xmlns:a16="http://schemas.microsoft.com/office/drawing/2014/main" id="{5A60ABF2-36DF-43D1-AC96-B4E6687A53A1}"/>
              </a:ext>
            </a:extLst>
          </p:cNvPr>
          <p:cNvSpPr>
            <a:spLocks xmlns:a="http://schemas.openxmlformats.org/drawingml/2006/main" noGrp="1"/>
          </p:cNvSpPr>
          <p:nvPr/>
        </p:nvSpPr>
        <p:spPr>
          <a:xfrm xmlns:a="http://schemas.openxmlformats.org/drawingml/2006/main">
            <a:off x="7096125" y="4791075"/>
            <a:ext cx="2571750" cy="952500"/>
          </a:xfrm>
          <a:prstGeom xmlns:a="http://schemas.openxmlformats.org/drawingml/2006/main" prst="rect">
            <a:avLst/>
          </a:prstGeom>
          <a:solidFill xmlns:a="http://schemas.openxmlformats.org/drawingml/2006/main">
            <a:srgbClr val="F2F2F2"/>
          </a:solidFill>
          <a:ln xmlns:a="http://schemas.openxmlformats.org/drawingml/2006/main" w="19050">
            <a:solidFill>
              <a:srgbClr val="9B9B9B"/>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1950">
                <a:solidFill>
                  <a:srgbClr val="3C3C3C"/>
                </a:solidFill>
                <a:latin typeface="Arial"/>
                <a:ea typeface="Arial"/>
                <a:cs typeface="Arial"/>
              </a:defRPr>
            </a:pPr>
            <a:r>
              <a:rPr sz="1950">
                <a:solidFill>
                  <a:srgbClr val="3C3C3C"/>
                </a:solidFill>
                <a:latin typeface="Arial"/>
                <a:ea typeface="Arial"/>
                <a:cs typeface="Arial"/>
              </a:rPr>
              <a:t>Pill</a:t>
            </a:r>
          </a:p>
          <a:p xmlns:a="http://schemas.openxmlformats.org/drawingml/2006/main">
            <a:pPr algn="ctr">
              <a:defRPr sz="1950">
                <a:solidFill>
                  <a:srgbClr val="3C3C3C"/>
                </a:solidFill>
                <a:latin typeface="Arial"/>
                <a:ea typeface="Arial"/>
                <a:cs typeface="Arial"/>
              </a:defRPr>
            </a:pPr>
            <a:r>
              <a:rPr sz="1950">
                <a:solidFill>
                  <a:srgbClr val="3C3C3C"/>
                </a:solidFill>
                <a:latin typeface="Arial"/>
                <a:ea typeface="Arial"/>
                <a:cs typeface="Arial"/>
              </a:rPr>
              <a:t>cyanide or sugar</a:t>
            </a:r>
          </a:p>
        </p:txBody>
      </p:sp>
      <p:cxnSp>
        <p:nvCxnSpPr>
          <p:cNvPr id="22" name=""/>
          <p:cNvCxnSpPr>
            <a:stCxn xmlns:a="http://schemas.openxmlformats.org/drawingml/2006/main" id="3" idx="2"/>
            <a:endCxn xmlns:a="http://schemas.openxmlformats.org/drawingml/2006/main" id="5" idx="0"/>
          </p:cNvCxnSpPr>
          <p:nvPr/>
        </p:nvCxnSpPr>
        <p:spPr>
          <a:xfrm xmlns:a="http://schemas.openxmlformats.org/drawingml/2006/main">
            <a:off x="6096000" y="2276475"/>
            <a:ext cx="0" cy="647700"/>
          </a:xfrm>
          <a:prstGeom xmlns:a="http://schemas.openxmlformats.org/drawingml/2006/main" prst="straightConnector1">
            <a:avLst/>
          </a:prstGeom>
          <a:ln xmlns:a="http://schemas.openxmlformats.org/drawingml/2006/main" w="19050">
            <a:solidFill>
              <a:srgbClr val="666666"/>
            </a:solidFill>
            <a:tailEnd type="triangle" w="sm" len="sm"/>
          </a:ln>
        </p:spPr>
      </p:cxnSp>
      <p:cxnSp>
        <p:nvCxnSpPr>
          <p:cNvPr id="23" name=""/>
          <p:cNvCxnSpPr>
            <a:stCxn xmlns:a="http://schemas.openxmlformats.org/drawingml/2006/main" id="5" idx="1"/>
            <a:endCxn xmlns:a="http://schemas.openxmlformats.org/drawingml/2006/main" id="4" idx="3"/>
          </p:cNvCxnSpPr>
          <p:nvPr/>
        </p:nvCxnSpPr>
        <p:spPr>
          <a:xfrm xmlns:a="http://schemas.openxmlformats.org/drawingml/2006/main" flipH="1">
            <a:off x="3571875" y="3495675"/>
            <a:ext cx="1000125" cy="0"/>
          </a:xfrm>
          <a:prstGeom xmlns:a="http://schemas.openxmlformats.org/drawingml/2006/main" prst="straightConnector1">
            <a:avLst/>
          </a:prstGeom>
          <a:ln xmlns:a="http://schemas.openxmlformats.org/drawingml/2006/main" w="19050">
            <a:solidFill>
              <a:srgbClr val="666666"/>
            </a:solidFill>
            <a:tailEnd type="triangle" w="sm" len="sm"/>
          </a:ln>
        </p:spPr>
      </p:cxnSp>
      <p:cxnSp>
        <p:nvCxnSpPr>
          <p:cNvPr id="24" name=""/>
          <p:cNvCxnSpPr>
            <a:stCxn xmlns:a="http://schemas.openxmlformats.org/drawingml/2006/main" id="5" idx="3"/>
            <a:endCxn xmlns:a="http://schemas.openxmlformats.org/drawingml/2006/main" id="6" idx="1"/>
          </p:cNvCxnSpPr>
          <p:nvPr/>
        </p:nvCxnSpPr>
        <p:spPr>
          <a:xfrm xmlns:a="http://schemas.openxmlformats.org/drawingml/2006/main">
            <a:off x="7620000" y="3495675"/>
            <a:ext cx="1000125" cy="0"/>
          </a:xfrm>
          <a:prstGeom xmlns:a="http://schemas.openxmlformats.org/drawingml/2006/main" prst="straightConnector1">
            <a:avLst/>
          </a:prstGeom>
          <a:ln xmlns:a="http://schemas.openxmlformats.org/drawingml/2006/main" w="19050">
            <a:solidFill>
              <a:srgbClr val="666666"/>
            </a:solidFill>
            <a:tailEnd type="triangle" w="sm" len="sm"/>
          </a:ln>
        </p:spPr>
      </p:cxnSp>
      <p:cxnSp>
        <p:nvCxnSpPr>
          <p:cNvPr id="25" name=""/>
          <p:cNvCxnSpPr>
            <a:stCxn xmlns:a="http://schemas.openxmlformats.org/drawingml/2006/main" id="5" idx="2"/>
            <a:endCxn xmlns:a="http://schemas.openxmlformats.org/drawingml/2006/main" id="7" idx="0"/>
          </p:cNvCxnSpPr>
          <p:nvPr/>
        </p:nvCxnSpPr>
        <p:spPr>
          <a:xfrm xmlns:a="http://schemas.openxmlformats.org/drawingml/2006/main" flipH="1">
            <a:off x="4667250" y="4067175"/>
            <a:ext cx="1428750" cy="723900"/>
          </a:xfrm>
          <a:prstGeom xmlns:a="http://schemas.openxmlformats.org/drawingml/2006/main" prst="bentConnector4">
            <a:avLst>
              <a:gd name="adj1" fmla="val 0"/>
              <a:gd name="adj2" fmla="val 50000"/>
            </a:avLst>
          </a:prstGeom>
          <a:ln xmlns:a="http://schemas.openxmlformats.org/drawingml/2006/main" w="19050">
            <a:solidFill>
              <a:srgbClr val="666666"/>
            </a:solidFill>
            <a:tailEnd type="triangle" w="sm" len="sm"/>
          </a:ln>
        </p:spPr>
      </p:cxnSp>
      <p:cxnSp>
        <p:nvCxnSpPr>
          <p:cNvPr id="26" name=""/>
          <p:cNvCxnSpPr>
            <a:stCxn xmlns:a="http://schemas.openxmlformats.org/drawingml/2006/main" id="5" idx="2"/>
            <a:endCxn xmlns:a="http://schemas.openxmlformats.org/drawingml/2006/main" id="8" idx="0"/>
          </p:cNvCxnSpPr>
          <p:nvPr/>
        </p:nvCxnSpPr>
        <p:spPr>
          <a:xfrm xmlns:a="http://schemas.openxmlformats.org/drawingml/2006/main">
            <a:off x="6096000" y="4067175"/>
            <a:ext cx="2286000" cy="723900"/>
          </a:xfrm>
          <a:prstGeom xmlns:a="http://schemas.openxmlformats.org/drawingml/2006/main" prst="bentConnector4">
            <a:avLst>
              <a:gd name="adj1" fmla="val 0"/>
              <a:gd name="adj2" fmla="val 50000"/>
            </a:avLst>
          </a:prstGeom>
          <a:ln xmlns:a="http://schemas.openxmlformats.org/drawingml/2006/main" w="19050">
            <a:solidFill>
              <a:srgbClr val="666666"/>
            </a:solidFill>
            <a:tailEnd type="triangle" w="sm" len="sm"/>
          </a:ln>
        </p:spPr>
      </p:cxnSp>
    </p:spTree>
    <p:extLst>
      <p:ext uri="{BB962C8B-B14F-4D97-AF65-F5344CB8AC3E}">
        <p14:creationId xmlns:p14="http://schemas.microsoft.com/office/powerpoint/2010/main" val="988110923"/>
      </p:ext>
    </p:extLst>
  </p:cSld>
</p:sld>
</file>

<file path=ppt/slides/slide4.xml><?xml version="1.0" encoding="utf-8"?>
<p:sld xmlns:p="http://schemas.openxmlformats.org/presentationml/2006/main">
  <p:cSld>
    <p:bg>
      <p:bgPr>
        <a:solidFill xmlns:a="http://schemas.openxmlformats.org/drawingml/2006/main">
          <a:srgbClr val="F2F2F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AC39063-3A1F-46F0-A7F4-F231710A528B}"/>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1">
                <a:solidFill>
                  <a:srgbClr val="3C3C3C"/>
                </a:solidFill>
                <a:latin typeface="Arial"/>
                <a:ea typeface="Arial"/>
                <a:cs typeface="Arial"/>
              </a:defRPr>
            </a:pPr>
            <a:r>
              <a:rPr sz="3375" b="1">
                <a:solidFill>
                  <a:srgbClr val="3C3C3C"/>
                </a:solidFill>
                <a:latin typeface="Arial"/>
                <a:ea typeface="Arial"/>
                <a:cs typeface="Arial"/>
              </a:rPr>
              <a:t>Decisions after the specification</a:t>
            </a:r>
          </a:p>
        </p:txBody>
      </p:sp>
      <p:sp>
        <p:nvSpPr>
          <p:cNvPr id="2" name="">
            <a:extLst xmlns:a="http://schemas.openxmlformats.org/drawingml/2006/main">
              <a:ext uri="{FF2B5EF4-FFF2-40B4-BE49-F238E27FC236}">
                <a16:creationId xmlns:a16="http://schemas.microsoft.com/office/drawing/2014/main" id="{FBA5B659-3A81-49C8-A006-34572634AC42}"/>
              </a:ext>
            </a:extLst>
          </p:cNvPr>
          <p:cNvSpPr>
            <a:spLocks xmlns:a="http://schemas.openxmlformats.org/drawingml/2006/main" noGrp="1"/>
          </p:cNvSpPr>
          <p:nvPr/>
        </p:nvSpPr>
        <p:spPr>
          <a:xfrm xmlns:a="http://schemas.openxmlformats.org/drawingml/2006/main">
            <a:off x="10953750" y="631507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425" b="0">
                <a:solidFill>
                  <a:srgbClr val="666666"/>
                </a:solidFill>
                <a:latin typeface="Arial"/>
                <a:ea typeface="Arial"/>
                <a:cs typeface="Arial"/>
              </a:defRPr>
            </a:pPr>
            <a:r>
              <a:rPr sz="1425" b="0">
                <a:solidFill>
                  <a:srgbClr val="666666"/>
                </a:solidFill>
                <a:latin typeface="Arial"/>
                <a:ea typeface="Arial"/>
                <a:cs typeface="Arial"/>
              </a:rPr>
              <a:t>4</a:t>
            </a:r>
          </a:p>
        </p:txBody>
      </p:sp>
      <p:sp>
        <p:nvSpPr>
          <p:cNvPr id="3" name="">
            <a:extLst xmlns:a="http://schemas.openxmlformats.org/drawingml/2006/main">
              <a:ext uri="{FF2B5EF4-FFF2-40B4-BE49-F238E27FC236}">
                <a16:creationId xmlns:a16="http://schemas.microsoft.com/office/drawing/2014/main" id="{C7524478-D028-4D9A-81DB-B9A9C64B6025}"/>
              </a:ext>
            </a:extLst>
          </p:cNvPr>
          <p:cNvSpPr>
            <a:spLocks xmlns:a="http://schemas.openxmlformats.org/drawingml/2006/main" noGrp="1"/>
          </p:cNvSpPr>
          <p:nvPr/>
        </p:nvSpPr>
        <p:spPr>
          <a:xfrm xmlns:a="http://schemas.openxmlformats.org/drawingml/2006/main">
            <a:off x="742950" y="1809750"/>
            <a:ext cx="10477500" cy="3762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79400" indent="-139700">
              <a:spcAft>
                <a:spcPts val="2400"/>
              </a:spcAft>
              <a:buChar char="•"/>
              <a:defRPr sz="2550" b="0">
                <a:solidFill>
                  <a:srgbClr val="3C3C3C"/>
                </a:solidFill>
                <a:latin typeface="Arial"/>
                <a:ea typeface="Arial"/>
                <a:cs typeface="Arial"/>
              </a:defRPr>
            </a:pPr>
            <a:r>
              <a:t>Clarified local play and the empty-queue draw.</a:t>
            </a:r>
          </a:p>
          <a:p xmlns:a="http://schemas.openxmlformats.org/drawingml/2006/main">
            <a:pPr marL="279400" indent="-139700">
              <a:spcAft>
                <a:spcPts val="2400"/>
              </a:spcAft>
              <a:buChar char="•"/>
              <a:defRPr sz="2550" b="0">
                <a:solidFill>
                  <a:srgbClr val="3C3C3C"/>
                </a:solidFill>
                <a:latin typeface="Arial"/>
                <a:ea typeface="Arial"/>
                <a:cs typeface="Arial"/>
              </a:defRPr>
            </a:pPr>
            <a:r>
              <a:t>Used a loop to retry bad commands without changing state.</a:t>
            </a:r>
          </a:p>
          <a:p xmlns:a="http://schemas.openxmlformats.org/drawingml/2006/main">
            <a:pPr marL="279400" indent="-139700">
              <a:spcAft>
                <a:spcPts val="2400"/>
              </a:spcAft>
              <a:buChar char="•"/>
              <a:defRPr sz="2550" b="0">
                <a:solidFill>
                  <a:srgbClr val="3C3C3C"/>
                </a:solidFill>
                <a:latin typeface="Arial"/>
                <a:ea typeface="Arial"/>
                <a:cs typeface="Arial"/>
              </a:defRPr>
            </a:pPr>
            <a:r>
              <a:t>Added a tutorial and static ASCII health bars.</a:t>
            </a:r>
          </a:p>
          <a:p xmlns:a="http://schemas.openxmlformats.org/drawingml/2006/main">
            <a:pPr marL="279400" indent="-139700">
              <a:spcAft>
                <a:spcPts val="2400"/>
              </a:spcAft>
              <a:buChar char="•"/>
              <a:defRPr sz="2550" b="0">
                <a:solidFill>
                  <a:srgbClr val="3C3C3C"/>
                </a:solidFill>
                <a:latin typeface="Arial"/>
                <a:ea typeface="Arial"/>
                <a:cs typeface="Arial"/>
              </a:defRPr>
            </a:pPr>
            <a:r>
              <a:t>Deferred powerups, animation and a computer opponent.</a:t>
            </a:r>
          </a:p>
        </p:txBody>
      </p:sp>
    </p:spTree>
    <p:extLst>
      <p:ext uri="{BB962C8B-B14F-4D97-AF65-F5344CB8AC3E}">
        <p14:creationId xmlns:p14="http://schemas.microsoft.com/office/powerpoint/2010/main" val="395096328"/>
      </p:ext>
    </p:extLst>
  </p:cSld>
</p:sld>
</file>

<file path=ppt/slides/slide5.xml><?xml version="1.0" encoding="utf-8"?>
<p:sld xmlns:p="http://schemas.openxmlformats.org/presentationml/2006/main">
  <p:cSld>
    <p:bg>
      <p:bgPr>
        <a:solidFill xmlns:a="http://schemas.openxmlformats.org/drawingml/2006/main">
          <a:srgbClr val="F2F2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CFE8C15-B957-4517-8565-0DE456B36072}"/>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1">
                <a:solidFill>
                  <a:srgbClr val="3C3C3C"/>
                </a:solidFill>
                <a:latin typeface="Arial"/>
                <a:ea typeface="Arial"/>
                <a:cs typeface="Arial"/>
              </a:defRPr>
            </a:pPr>
            <a:r>
              <a:rPr sz="3375" b="1">
                <a:solidFill>
                  <a:srgbClr val="3C3C3C"/>
                </a:solidFill>
                <a:latin typeface="Arial"/>
                <a:ea typeface="Arial"/>
                <a:cs typeface="Arial"/>
              </a:rPr>
              <a:t>Live demo</a:t>
            </a:r>
          </a:p>
        </p:txBody>
      </p:sp>
      <p:sp>
        <p:nvSpPr>
          <p:cNvPr id="2" name="">
            <a:extLst xmlns:a="http://schemas.openxmlformats.org/drawingml/2006/main">
              <a:ext uri="{FF2B5EF4-FFF2-40B4-BE49-F238E27FC236}">
                <a16:creationId xmlns:a16="http://schemas.microsoft.com/office/drawing/2014/main" id="{5DA2A461-E5FF-4197-8D44-BE38354F2545}"/>
              </a:ext>
            </a:extLst>
          </p:cNvPr>
          <p:cNvSpPr>
            <a:spLocks xmlns:a="http://schemas.openxmlformats.org/drawingml/2006/main" noGrp="1"/>
          </p:cNvSpPr>
          <p:nvPr/>
        </p:nvSpPr>
        <p:spPr>
          <a:xfrm xmlns:a="http://schemas.openxmlformats.org/drawingml/2006/main">
            <a:off x="10953750" y="631507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425" b="0">
                <a:solidFill>
                  <a:srgbClr val="666666"/>
                </a:solidFill>
                <a:latin typeface="Arial"/>
                <a:ea typeface="Arial"/>
                <a:cs typeface="Arial"/>
              </a:defRPr>
            </a:pPr>
            <a:r>
              <a:rPr sz="1425" b="0">
                <a:solidFill>
                  <a:srgbClr val="666666"/>
                </a:solidFill>
                <a:latin typeface="Arial"/>
                <a:ea typeface="Arial"/>
                <a:cs typeface="Arial"/>
              </a:rPr>
              <a:t>5</a:t>
            </a:r>
          </a:p>
        </p:txBody>
      </p:sp>
      <p:sp>
        <p:nvSpPr>
          <p:cNvPr id="3" name="">
            <a:extLst xmlns:a="http://schemas.openxmlformats.org/drawingml/2006/main">
              <a:ext uri="{FF2B5EF4-FFF2-40B4-BE49-F238E27FC236}">
                <a16:creationId xmlns:a16="http://schemas.microsoft.com/office/drawing/2014/main" id="{8F824214-7AF2-44F1-AF95-3CF5050DE49B}"/>
              </a:ext>
            </a:extLst>
          </p:cNvPr>
          <p:cNvSpPr>
            <a:spLocks xmlns:a="http://schemas.openxmlformats.org/drawingml/2006/main" noGrp="1"/>
          </p:cNvSpPr>
          <p:nvPr/>
        </p:nvSpPr>
        <p:spPr>
          <a:xfrm xmlns:a="http://schemas.openxmlformats.org/drawingml/2006/main">
            <a:off x="742950" y="17240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1">
                <a:solidFill>
                  <a:srgbClr val="3C3C3C"/>
                </a:solidFill>
                <a:latin typeface="Arial"/>
                <a:ea typeface="Arial"/>
                <a:cs typeface="Arial"/>
              </a:defRPr>
            </a:pPr>
            <a:r>
              <a:rPr sz="2850" b="1">
                <a:solidFill>
                  <a:srgbClr val="3C3C3C"/>
                </a:solidFill>
                <a:latin typeface="Arial"/>
                <a:ea typeface="Arial"/>
                <a:cs typeface="Arial"/>
              </a:rPr>
              <a:t>./scripts/run.sh --demo</a:t>
            </a:r>
          </a:p>
        </p:txBody>
      </p:sp>
      <p:sp>
        <p:nvSpPr>
          <p:cNvPr id="4" name="">
            <a:extLst xmlns:a="http://schemas.openxmlformats.org/drawingml/2006/main">
              <a:ext uri="{FF2B5EF4-FFF2-40B4-BE49-F238E27FC236}">
                <a16:creationId xmlns:a16="http://schemas.microsoft.com/office/drawing/2014/main" id="{BF8F7C2D-FAAC-4117-8556-9EE1717EB070}"/>
              </a:ext>
            </a:extLst>
          </p:cNvPr>
          <p:cNvSpPr>
            <a:spLocks xmlns:a="http://schemas.openxmlformats.org/drawingml/2006/main" noGrp="1"/>
          </p:cNvSpPr>
          <p:nvPr/>
        </p:nvSpPr>
        <p:spPr>
          <a:xfrm xmlns:a="http://schemas.openxmlformats.org/drawingml/2006/main">
            <a:off x="742950" y="2762250"/>
            <a:ext cx="10477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79400" indent="-139700">
              <a:spcAft>
                <a:spcPts val="2000"/>
              </a:spcAft>
              <a:buChar char="•"/>
              <a:defRPr sz="2475" b="0">
                <a:solidFill>
                  <a:srgbClr val="3C3C3C"/>
                </a:solidFill>
                <a:latin typeface="Arial"/>
                <a:ea typeface="Arial"/>
                <a:cs typeface="Arial"/>
              </a:defRPr>
            </a:pPr>
            <a:r>
              <a:t>Try banana and a blank line. State stays unchanged.</a:t>
            </a:r>
          </a:p>
          <a:p xmlns:a="http://schemas.openxmlformats.org/drawingml/2006/main">
            <a:pPr marL="279400" indent="-139700">
              <a:spcAft>
                <a:spcPts val="2000"/>
              </a:spcAft>
              <a:buChar char="•"/>
              <a:defRPr sz="2475" b="0">
                <a:solidFill>
                  <a:srgbClr val="3C3C3C"/>
                </a:solidFill>
                <a:latin typeface="Arial"/>
                <a:ea typeface="Arial"/>
                <a:cs typeface="Arial"/>
              </a:defRPr>
            </a:pPr>
            <a:r>
              <a:t>Enter 2, 1, 2, 1, 2 to finish the fixed demo.</a:t>
            </a:r>
          </a:p>
          <a:p xmlns:a="http://schemas.openxmlformats.org/drawingml/2006/main">
            <a:pPr marL="279400" indent="-139700">
              <a:spcAft>
                <a:spcPts val="2000"/>
              </a:spcAft>
              <a:buChar char="•"/>
              <a:defRPr sz="2475" b="0">
                <a:solidFill>
                  <a:srgbClr val="3C3C3C"/>
                </a:solidFill>
                <a:latin typeface="Arial"/>
                <a:ea typeface="Arial"/>
                <a:cs typeface="Arial"/>
              </a:defRPr>
            </a:pPr>
            <a:r>
              <a:t>Show the health changes and final result.</a:t>
            </a:r>
          </a:p>
        </p:txBody>
      </p:sp>
      <p:sp>
        <p:nvSpPr>
          <p:cNvPr id="5" name="">
            <a:extLst xmlns:a="http://schemas.openxmlformats.org/drawingml/2006/main">
              <a:ext uri="{FF2B5EF4-FFF2-40B4-BE49-F238E27FC236}">
                <a16:creationId xmlns:a16="http://schemas.microsoft.com/office/drawing/2014/main" id="{79875894-E1A3-4B56-AB07-051244F8B20D}"/>
              </a:ext>
            </a:extLst>
          </p:cNvPr>
          <p:cNvSpPr>
            <a:spLocks xmlns:a="http://schemas.openxmlformats.org/drawingml/2006/main" noGrp="1"/>
          </p:cNvSpPr>
          <p:nvPr/>
        </p:nvSpPr>
        <p:spPr>
          <a:xfrm xmlns:a="http://schemas.openxmlformats.org/drawingml/2006/main">
            <a:off x="742950" y="55626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3C3C3C"/>
                </a:solidFill>
                <a:latin typeface="Arial"/>
                <a:ea typeface="Arial"/>
                <a:cs typeface="Arial"/>
              </a:defRPr>
            </a:pPr>
            <a:r>
              <a:rPr sz="2325" b="0">
                <a:solidFill>
                  <a:srgbClr val="3C3C3C"/>
                </a:solidFill>
                <a:latin typeface="Arial"/>
                <a:ea typeface="Arial"/>
                <a:cs typeface="Arial"/>
              </a:rPr>
              <a:t>Then run ./scripts/test.sh</a:t>
            </a:r>
          </a:p>
        </p:txBody>
      </p:sp>
    </p:spTree>
    <p:extLst>
      <p:ext uri="{BB962C8B-B14F-4D97-AF65-F5344CB8AC3E}">
        <p14:creationId xmlns:p14="http://schemas.microsoft.com/office/powerpoint/2010/main" val="365955185"/>
      </p:ext>
    </p:extLst>
  </p:cSld>
</p:sld>
</file>

<file path=ppt/slides/slide6.xml><?xml version="1.0" encoding="utf-8"?>
<p:sld xmlns:p="http://schemas.openxmlformats.org/presentationml/2006/main">
  <p:cSld>
    <p:bg>
      <p:bgPr>
        <a:solidFill xmlns:a="http://schemas.openxmlformats.org/drawingml/2006/main">
          <a:srgbClr val="F2F2F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8829970-6832-438E-A422-D5DDDB58A11A}"/>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1">
                <a:solidFill>
                  <a:srgbClr val="3C3C3C"/>
                </a:solidFill>
                <a:latin typeface="Arial"/>
                <a:ea typeface="Arial"/>
                <a:cs typeface="Arial"/>
              </a:defRPr>
            </a:pPr>
            <a:r>
              <a:rPr sz="3375" b="1">
                <a:solidFill>
                  <a:srgbClr val="3C3C3C"/>
                </a:solidFill>
                <a:latin typeface="Arial"/>
                <a:ea typeface="Arial"/>
                <a:cs typeface="Arial"/>
              </a:rPr>
              <a:t>What worked in the implementation</a:t>
            </a:r>
          </a:p>
        </p:txBody>
      </p:sp>
      <p:sp>
        <p:nvSpPr>
          <p:cNvPr id="2" name="">
            <a:extLst xmlns:a="http://schemas.openxmlformats.org/drawingml/2006/main">
              <a:ext uri="{FF2B5EF4-FFF2-40B4-BE49-F238E27FC236}">
                <a16:creationId xmlns:a16="http://schemas.microsoft.com/office/drawing/2014/main" id="{A6641D3D-FAE0-4A94-9EDE-56870CF70C71}"/>
              </a:ext>
            </a:extLst>
          </p:cNvPr>
          <p:cNvSpPr>
            <a:spLocks xmlns:a="http://schemas.openxmlformats.org/drawingml/2006/main" noGrp="1"/>
          </p:cNvSpPr>
          <p:nvPr/>
        </p:nvSpPr>
        <p:spPr>
          <a:xfrm xmlns:a="http://schemas.openxmlformats.org/drawingml/2006/main">
            <a:off x="10953750" y="631507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425" b="0">
                <a:solidFill>
                  <a:srgbClr val="666666"/>
                </a:solidFill>
                <a:latin typeface="Arial"/>
                <a:ea typeface="Arial"/>
                <a:cs typeface="Arial"/>
              </a:defRPr>
            </a:pPr>
            <a:r>
              <a:rPr sz="1425" b="0">
                <a:solidFill>
                  <a:srgbClr val="666666"/>
                </a:solidFill>
                <a:latin typeface="Arial"/>
                <a:ea typeface="Arial"/>
                <a:cs typeface="Arial"/>
              </a:rPr>
              <a:t>6</a:t>
            </a:r>
          </a:p>
        </p:txBody>
      </p:sp>
      <p:sp>
        <p:nvSpPr>
          <p:cNvPr id="3" name="">
            <a:extLst xmlns:a="http://schemas.openxmlformats.org/drawingml/2006/main">
              <a:ext uri="{FF2B5EF4-FFF2-40B4-BE49-F238E27FC236}">
                <a16:creationId xmlns:a16="http://schemas.microsoft.com/office/drawing/2014/main" id="{CE028A52-498A-460D-88B4-5E1611C66E27}"/>
              </a:ext>
            </a:extLst>
          </p:cNvPr>
          <p:cNvSpPr>
            <a:spLocks xmlns:a="http://schemas.openxmlformats.org/drawingml/2006/main" noGrp="1"/>
          </p:cNvSpPr>
          <p:nvPr/>
        </p:nvSpPr>
        <p:spPr>
          <a:xfrm xmlns:a="http://schemas.openxmlformats.org/drawingml/2006/main">
            <a:off x="742950" y="1809750"/>
            <a:ext cx="10477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79400" indent="-139700">
              <a:spcAft>
                <a:spcPts val="2400"/>
              </a:spcAft>
              <a:buChar char="•"/>
              <a:defRPr sz="2550" b="0">
                <a:solidFill>
                  <a:srgbClr val="3C3C3C"/>
                </a:solidFill>
                <a:latin typeface="Arial"/>
                <a:ea typeface="Arial"/>
                <a:cs typeface="Arial"/>
              </a:defRPr>
            </a:pPr>
            <a:r>
              <a:t>Small classes made each responsibility clear.</a:t>
            </a:r>
          </a:p>
          <a:p xmlns:a="http://schemas.openxmlformats.org/drawingml/2006/main">
            <a:pPr marL="279400" indent="-139700">
              <a:spcAft>
                <a:spcPts val="2400"/>
              </a:spcAft>
              <a:buChar char="•"/>
              <a:defRPr sz="2550" b="0">
                <a:solidFill>
                  <a:srgbClr val="3C3C3C"/>
                </a:solidFill>
                <a:latin typeface="Arial"/>
                <a:ea typeface="Arial"/>
                <a:cs typeface="Arial"/>
              </a:defRPr>
            </a:pPr>
            <a:r>
              <a:t>Validation happens before an action changes the game.</a:t>
            </a:r>
          </a:p>
          <a:p xmlns:a="http://schemas.openxmlformats.org/drawingml/2006/main">
            <a:pPr marL="279400" indent="-139700">
              <a:spcAft>
                <a:spcPts val="2400"/>
              </a:spcAft>
              <a:buChar char="•"/>
              <a:defRPr sz="2550" b="0">
                <a:solidFill>
                  <a:srgbClr val="3C3C3C"/>
                </a:solidFill>
                <a:latin typeface="Arial"/>
                <a:ea typeface="Arial"/>
                <a:cs typeface="Arial"/>
              </a:defRPr>
            </a:pPr>
            <a:r>
              <a:t>Fixed test sequences make failures reproducible.</a:t>
            </a:r>
          </a:p>
          <a:p xmlns:a="http://schemas.openxmlformats.org/drawingml/2006/main">
            <a:pPr marL="279400" indent="-139700">
              <a:spcAft>
                <a:spcPts val="2400"/>
              </a:spcAft>
              <a:buChar char="•"/>
              <a:defRPr sz="2550" b="0">
                <a:solidFill>
                  <a:srgbClr val="3C3C3C"/>
                </a:solidFill>
                <a:latin typeface="Arial"/>
                <a:ea typeface="Arial"/>
                <a:cs typeface="Arial"/>
              </a:defRPr>
            </a:pPr>
            <a:r>
              <a:t>A static display shows the information players need.</a:t>
            </a:r>
          </a:p>
        </p:txBody>
      </p:sp>
    </p:spTree>
    <p:extLst>
      <p:ext uri="{BB962C8B-B14F-4D97-AF65-F5344CB8AC3E}">
        <p14:creationId xmlns:p14="http://schemas.microsoft.com/office/powerpoint/2010/main" val="1435274670"/>
      </p:ext>
    </p:extLst>
  </p:cSld>
</p:sld>
</file>

<file path=ppt/slides/slide7.xml><?xml version="1.0" encoding="utf-8"?>
<p:sld xmlns:p="http://schemas.openxmlformats.org/presentationml/2006/main">
  <p:cSld>
    <p:bg>
      <p:bgPr>
        <a:solidFill xmlns:a="http://schemas.openxmlformats.org/drawingml/2006/main">
          <a:srgbClr val="F2F2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5AA90C8-559D-4EC4-9EF7-7B1EAF07B6E4}"/>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1">
                <a:solidFill>
                  <a:srgbClr val="3C3C3C"/>
                </a:solidFill>
                <a:latin typeface="Arial"/>
                <a:ea typeface="Arial"/>
                <a:cs typeface="Arial"/>
              </a:defRPr>
            </a:pPr>
            <a:r>
              <a:rPr sz="3375" b="1">
                <a:solidFill>
                  <a:srgbClr val="3C3C3C"/>
                </a:solidFill>
                <a:latin typeface="Arial"/>
                <a:ea typeface="Arial"/>
                <a:cs typeface="Arial"/>
              </a:rPr>
              <a:t>What was difficult about scoping</a:t>
            </a:r>
          </a:p>
        </p:txBody>
      </p:sp>
      <p:sp>
        <p:nvSpPr>
          <p:cNvPr id="2" name="">
            <a:extLst xmlns:a="http://schemas.openxmlformats.org/drawingml/2006/main">
              <a:ext uri="{FF2B5EF4-FFF2-40B4-BE49-F238E27FC236}">
                <a16:creationId xmlns:a16="http://schemas.microsoft.com/office/drawing/2014/main" id="{3DE3F205-1195-487E-98F9-CE5653ED9073}"/>
              </a:ext>
            </a:extLst>
          </p:cNvPr>
          <p:cNvSpPr>
            <a:spLocks xmlns:a="http://schemas.openxmlformats.org/drawingml/2006/main" noGrp="1"/>
          </p:cNvSpPr>
          <p:nvPr/>
        </p:nvSpPr>
        <p:spPr>
          <a:xfrm xmlns:a="http://schemas.openxmlformats.org/drawingml/2006/main">
            <a:off x="10953750" y="631507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425" b="0">
                <a:solidFill>
                  <a:srgbClr val="666666"/>
                </a:solidFill>
                <a:latin typeface="Arial"/>
                <a:ea typeface="Arial"/>
                <a:cs typeface="Arial"/>
              </a:defRPr>
            </a:pPr>
            <a:r>
              <a:rPr sz="1425" b="0">
                <a:solidFill>
                  <a:srgbClr val="666666"/>
                </a:solidFill>
                <a:latin typeface="Arial"/>
                <a:ea typeface="Arial"/>
                <a:cs typeface="Arial"/>
              </a:rPr>
              <a:t>7</a:t>
            </a:r>
          </a:p>
        </p:txBody>
      </p:sp>
      <p:sp>
        <p:nvSpPr>
          <p:cNvPr id="3" name="">
            <a:extLst xmlns:a="http://schemas.openxmlformats.org/drawingml/2006/main">
              <a:ext uri="{FF2B5EF4-FFF2-40B4-BE49-F238E27FC236}">
                <a16:creationId xmlns:a16="http://schemas.microsoft.com/office/drawing/2014/main" id="{3FF676D9-7D87-464B-8A01-076C6A835E70}"/>
              </a:ext>
            </a:extLst>
          </p:cNvPr>
          <p:cNvSpPr>
            <a:spLocks xmlns:a="http://schemas.openxmlformats.org/drawingml/2006/main" noGrp="1"/>
          </p:cNvSpPr>
          <p:nvPr/>
        </p:nvSpPr>
        <p:spPr>
          <a:xfrm xmlns:a="http://schemas.openxmlformats.org/drawingml/2006/main">
            <a:off x="742950" y="1762125"/>
            <a:ext cx="104775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79400" indent="-139700">
              <a:spcAft>
                <a:spcPts val="1900"/>
              </a:spcAft>
              <a:buChar char="•"/>
              <a:defRPr sz="2475" b="0">
                <a:solidFill>
                  <a:srgbClr val="3C3C3C"/>
                </a:solidFill>
                <a:latin typeface="Arial"/>
                <a:ea typeface="Arial"/>
                <a:cs typeface="Arial"/>
              </a:defRPr>
            </a:pPr>
            <a:r>
              <a:t>An idea still leaves rule decisions unanswered.</a:t>
            </a:r>
          </a:p>
          <a:p xmlns:a="http://schemas.openxmlformats.org/drawingml/2006/main">
            <a:pPr marL="279400" indent="-139700">
              <a:spcAft>
                <a:spcPts val="1900"/>
              </a:spcAft>
              <a:buChar char="•"/>
              <a:defRPr sz="2475" b="0">
                <a:solidFill>
                  <a:srgbClr val="3C3C3C"/>
                </a:solidFill>
                <a:latin typeface="Arial"/>
                <a:ea typeface="Arial"/>
                <a:cs typeface="Arial"/>
              </a:defRPr>
            </a:pPr>
            <a:r>
              <a:t>“Game over” needed a result for an empty pill queue.</a:t>
            </a:r>
          </a:p>
          <a:p xmlns:a="http://schemas.openxmlformats.org/drawingml/2006/main">
            <a:pPr marL="279400" indent="-139700">
              <a:spcAft>
                <a:spcPts val="1900"/>
              </a:spcAft>
              <a:buChar char="•"/>
              <a:defRPr sz="2475" b="0">
                <a:solidFill>
                  <a:srgbClr val="3C3C3C"/>
                </a:solidFill>
                <a:latin typeface="Arial"/>
                <a:ea typeface="Arial"/>
                <a:cs typeface="Arial"/>
              </a:defRPr>
            </a:pPr>
            <a:r>
              <a:t>“Bad input” needed a precise Java input boundary.</a:t>
            </a:r>
          </a:p>
          <a:p xmlns:a="http://schemas.openxmlformats.org/drawingml/2006/main">
            <a:pPr marL="279400" indent="-139700">
              <a:spcAft>
                <a:spcPts val="1900"/>
              </a:spcAft>
              <a:buChar char="•"/>
              <a:defRPr sz="2475" b="0">
                <a:solidFill>
                  <a:srgbClr val="3C3C3C"/>
                </a:solidFill>
                <a:latin typeface="Arial"/>
                <a:ea typeface="Arial"/>
                <a:cs typeface="Arial"/>
              </a:defRPr>
            </a:pPr>
            <a:r>
              <a:t>Stretch features needed a clear stopping point.</a:t>
            </a:r>
          </a:p>
        </p:txBody>
      </p:sp>
      <p:sp>
        <p:nvSpPr>
          <p:cNvPr id="4" name="">
            <a:extLst xmlns:a="http://schemas.openxmlformats.org/drawingml/2006/main">
              <a:ext uri="{FF2B5EF4-FFF2-40B4-BE49-F238E27FC236}">
                <a16:creationId xmlns:a16="http://schemas.microsoft.com/office/drawing/2014/main" id="{B36721FF-770E-404D-8C33-A619EA6F4A4B}"/>
              </a:ext>
            </a:extLst>
          </p:cNvPr>
          <p:cNvSpPr>
            <a:spLocks xmlns:a="http://schemas.openxmlformats.org/drawingml/2006/main" noGrp="1"/>
          </p:cNvSpPr>
          <p:nvPr/>
        </p:nvSpPr>
        <p:spPr>
          <a:xfrm xmlns:a="http://schemas.openxmlformats.org/drawingml/2006/main">
            <a:off x="742950" y="53721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1">
                <a:solidFill>
                  <a:srgbClr val="3C3C3C"/>
                </a:solidFill>
                <a:latin typeface="Arial"/>
                <a:ea typeface="Arial"/>
                <a:cs typeface="Arial"/>
              </a:defRPr>
            </a:pPr>
            <a:r>
              <a:rPr sz="2475" b="1">
                <a:solidFill>
                  <a:srgbClr val="3C3C3C"/>
                </a:solidFill>
                <a:latin typeface="Arial"/>
                <a:ea typeface="Arial"/>
                <a:cs typeface="Arial"/>
              </a:rPr>
              <a:t>Scoping means deciding what a finished version must do.</a:t>
            </a:r>
          </a:p>
        </p:txBody>
      </p:sp>
    </p:spTree>
    <p:extLst>
      <p:ext uri="{BB962C8B-B14F-4D97-AF65-F5344CB8AC3E}">
        <p14:creationId xmlns:p14="http://schemas.microsoft.com/office/powerpoint/2010/main" val="1758803792"/>
      </p:ext>
    </p:extLst>
  </p:cSld>
</p:sld>
</file>

<file path=ppt/slides/slide8.xml><?xml version="1.0" encoding="utf-8"?>
<p:sld xmlns:p="http://schemas.openxmlformats.org/presentationml/2006/main">
  <p:cSld>
    <p:bg>
      <p:bgPr>
        <a:solidFill xmlns:a="http://schemas.openxmlformats.org/drawingml/2006/main">
          <a:srgbClr val="F2F2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ED5E127-2326-4088-BF31-2C56CF4A3EDF}"/>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1">
                <a:solidFill>
                  <a:srgbClr val="3C3C3C"/>
                </a:solidFill>
                <a:latin typeface="Arial"/>
                <a:ea typeface="Arial"/>
                <a:cs typeface="Arial"/>
              </a:defRPr>
            </a:pPr>
            <a:r>
              <a:rPr sz="3375" b="1">
                <a:solidFill>
                  <a:srgbClr val="3C3C3C"/>
                </a:solidFill>
                <a:latin typeface="Arial"/>
                <a:ea typeface="Arial"/>
                <a:cs typeface="Arial"/>
              </a:rPr>
              <a:t>GenAI for code generation and completion</a:t>
            </a:r>
          </a:p>
        </p:txBody>
      </p:sp>
      <p:sp>
        <p:nvSpPr>
          <p:cNvPr id="2" name="">
            <a:extLst xmlns:a="http://schemas.openxmlformats.org/drawingml/2006/main">
              <a:ext uri="{FF2B5EF4-FFF2-40B4-BE49-F238E27FC236}">
                <a16:creationId xmlns:a16="http://schemas.microsoft.com/office/drawing/2014/main" id="{05AC1172-4F09-4097-8346-6FF5EC611FEC}"/>
              </a:ext>
            </a:extLst>
          </p:cNvPr>
          <p:cNvSpPr>
            <a:spLocks xmlns:a="http://schemas.openxmlformats.org/drawingml/2006/main" noGrp="1"/>
          </p:cNvSpPr>
          <p:nvPr/>
        </p:nvSpPr>
        <p:spPr>
          <a:xfrm xmlns:a="http://schemas.openxmlformats.org/drawingml/2006/main">
            <a:off x="10953750" y="631507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425" b="0">
                <a:solidFill>
                  <a:srgbClr val="666666"/>
                </a:solidFill>
                <a:latin typeface="Arial"/>
                <a:ea typeface="Arial"/>
                <a:cs typeface="Arial"/>
              </a:defRPr>
            </a:pPr>
            <a:r>
              <a:rPr sz="1425" b="0">
                <a:solidFill>
                  <a:srgbClr val="666666"/>
                </a:solidFill>
                <a:latin typeface="Arial"/>
                <a:ea typeface="Arial"/>
                <a:cs typeface="Arial"/>
              </a:rPr>
              <a:t>8</a:t>
            </a:r>
          </a:p>
        </p:txBody>
      </p:sp>
      <p:sp>
        <p:nvSpPr>
          <p:cNvPr id="3" name="">
            <a:extLst xmlns:a="http://schemas.openxmlformats.org/drawingml/2006/main">
              <a:ext uri="{FF2B5EF4-FFF2-40B4-BE49-F238E27FC236}">
                <a16:creationId xmlns:a16="http://schemas.microsoft.com/office/drawing/2014/main" id="{A023CEBA-9145-4E91-B209-1B2315DE8003}"/>
              </a:ext>
            </a:extLst>
          </p:cNvPr>
          <p:cNvSpPr>
            <a:spLocks xmlns:a="http://schemas.openxmlformats.org/drawingml/2006/main" noGrp="1"/>
          </p:cNvSpPr>
          <p:nvPr/>
        </p:nvSpPr>
        <p:spPr>
          <a:xfrm xmlns:a="http://schemas.openxmlformats.org/drawingml/2006/main">
            <a:off x="742950" y="17526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C3C3C"/>
                </a:solidFill>
                <a:latin typeface="Arial"/>
                <a:ea typeface="Arial"/>
                <a:cs typeface="Arial"/>
              </a:defRPr>
            </a:pPr>
            <a:r>
              <a:rPr sz="2175" b="1">
                <a:solidFill>
                  <a:srgbClr val="3C3C3C"/>
                </a:solidFill>
                <a:latin typeface="Arial"/>
                <a:ea typeface="Arial"/>
                <a:cs typeface="Arial"/>
              </a:rPr>
              <a:t>Actual request</a:t>
            </a:r>
          </a:p>
        </p:txBody>
      </p:sp>
      <p:sp>
        <p:nvSpPr>
          <p:cNvPr id="4" name="">
            <a:extLst xmlns:a="http://schemas.openxmlformats.org/drawingml/2006/main">
              <a:ext uri="{FF2B5EF4-FFF2-40B4-BE49-F238E27FC236}">
                <a16:creationId xmlns:a16="http://schemas.microsoft.com/office/drawing/2014/main" id="{B691A97F-ED84-4734-AF27-A88E438CA7D8}"/>
              </a:ext>
            </a:extLst>
          </p:cNvPr>
          <p:cNvSpPr>
            <a:spLocks xmlns:a="http://schemas.openxmlformats.org/drawingml/2006/main" noGrp="1"/>
          </p:cNvSpPr>
          <p:nvPr/>
        </p:nvSpPr>
        <p:spPr>
          <a:xfrm xmlns:a="http://schemas.openxmlformats.org/drawingml/2006/main">
            <a:off x="742950" y="2447925"/>
            <a:ext cx="10382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3C3C3C"/>
                </a:solidFill>
                <a:latin typeface="Arial"/>
                <a:ea typeface="Arial"/>
                <a:cs typeface="Arial"/>
              </a:defRPr>
            </a:pPr>
            <a:r>
              <a:rPr sz="2775" b="0">
                <a:solidFill>
                  <a:srgbClr val="3C3C3C"/>
                </a:solidFill>
                <a:latin typeface="Arial"/>
                <a:ea typeface="Arial"/>
                <a:cs typeface="Arial"/>
              </a:rPr>
              <a:t>“Working code — compiles, runs, MVP features work, and it handles bad input without crashing.”</a:t>
            </a:r>
          </a:p>
        </p:txBody>
      </p:sp>
      <p:sp>
        <p:nvSpPr>
          <p:cNvPr id="5" name="">
            <a:extLst xmlns:a="http://schemas.openxmlformats.org/drawingml/2006/main">
              <a:ext uri="{FF2B5EF4-FFF2-40B4-BE49-F238E27FC236}">
                <a16:creationId xmlns:a16="http://schemas.microsoft.com/office/drawing/2014/main" id="{F91AF2F4-435B-46FF-AB0F-7E4F0174C06D}"/>
              </a:ext>
            </a:extLst>
          </p:cNvPr>
          <p:cNvSpPr>
            <a:spLocks xmlns:a="http://schemas.openxmlformats.org/drawingml/2006/main" noGrp="1"/>
          </p:cNvSpPr>
          <p:nvPr/>
        </p:nvSpPr>
        <p:spPr>
          <a:xfrm xmlns:a="http://schemas.openxmlformats.org/drawingml/2006/main">
            <a:off x="742950" y="441007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C3C3C"/>
                </a:solidFill>
                <a:latin typeface="Arial"/>
                <a:ea typeface="Arial"/>
                <a:cs typeface="Arial"/>
              </a:defRPr>
            </a:pPr>
            <a:r>
              <a:rPr sz="2400" b="0">
                <a:solidFill>
                  <a:srgbClr val="3C3C3C"/>
                </a:solidFill>
                <a:latin typeface="Arial"/>
                <a:ea typeface="Arial"/>
                <a:cs typeface="Arial"/>
              </a:rPr>
              <a:t>The specification supplied the rules and class contracts.</a:t>
            </a:r>
          </a:p>
        </p:txBody>
      </p:sp>
      <p:sp>
        <p:nvSpPr>
          <p:cNvPr id="6" name="">
            <a:extLst xmlns:a="http://schemas.openxmlformats.org/drawingml/2006/main">
              <a:ext uri="{FF2B5EF4-FFF2-40B4-BE49-F238E27FC236}">
                <a16:creationId xmlns:a16="http://schemas.microsoft.com/office/drawing/2014/main" id="{EC74CFAE-D89B-49C2-B4D9-473D3798787C}"/>
              </a:ext>
            </a:extLst>
          </p:cNvPr>
          <p:cNvSpPr>
            <a:spLocks xmlns:a="http://schemas.openxmlformats.org/drawingml/2006/main" noGrp="1"/>
          </p:cNvSpPr>
          <p:nvPr/>
        </p:nvSpPr>
        <p:spPr>
          <a:xfrm xmlns:a="http://schemas.openxmlformats.org/drawingml/2006/main">
            <a:off x="742950" y="5353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C3C3C"/>
                </a:solidFill>
                <a:latin typeface="Arial"/>
                <a:ea typeface="Arial"/>
                <a:cs typeface="Arial"/>
              </a:defRPr>
            </a:pPr>
            <a:r>
              <a:rPr sz="2400" b="0">
                <a:solidFill>
                  <a:srgbClr val="3C3C3C"/>
                </a:solidFill>
                <a:latin typeface="Arial"/>
                <a:ea typeface="Arial"/>
                <a:cs typeface="Arial"/>
              </a:rPr>
              <a:t>GenAI helped turn those contracts into runnable code.</a:t>
            </a:r>
          </a:p>
        </p:txBody>
      </p:sp>
    </p:spTree>
    <p:extLst>
      <p:ext uri="{BB962C8B-B14F-4D97-AF65-F5344CB8AC3E}">
        <p14:creationId xmlns:p14="http://schemas.microsoft.com/office/powerpoint/2010/main" val="1111578621"/>
      </p:ext>
    </p:extLst>
  </p:cSld>
</p:sld>
</file>

<file path=ppt/slides/slide9.xml><?xml version="1.0" encoding="utf-8"?>
<p:sld xmlns:p="http://schemas.openxmlformats.org/presentationml/2006/main">
  <p:cSld>
    <p:bg>
      <p:bgPr>
        <a:solidFill xmlns:a="http://schemas.openxmlformats.org/drawingml/2006/main">
          <a:srgbClr val="F2F2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53EE4D8-B372-43EA-A71E-E39818800976}"/>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1">
                <a:solidFill>
                  <a:srgbClr val="3C3C3C"/>
                </a:solidFill>
                <a:latin typeface="Arial"/>
                <a:ea typeface="Arial"/>
                <a:cs typeface="Arial"/>
              </a:defRPr>
            </a:pPr>
            <a:r>
              <a:rPr sz="3375" b="1">
                <a:solidFill>
                  <a:srgbClr val="3C3C3C"/>
                </a:solidFill>
                <a:latin typeface="Arial"/>
                <a:ea typeface="Arial"/>
                <a:cs typeface="Arial"/>
              </a:rPr>
              <a:t>GenAI for testing</a:t>
            </a:r>
          </a:p>
        </p:txBody>
      </p:sp>
      <p:sp>
        <p:nvSpPr>
          <p:cNvPr id="2" name="">
            <a:extLst xmlns:a="http://schemas.openxmlformats.org/drawingml/2006/main">
              <a:ext uri="{FF2B5EF4-FFF2-40B4-BE49-F238E27FC236}">
                <a16:creationId xmlns:a16="http://schemas.microsoft.com/office/drawing/2014/main" id="{C7E46748-7E97-47D0-8D91-2648E9967D13}"/>
              </a:ext>
            </a:extLst>
          </p:cNvPr>
          <p:cNvSpPr>
            <a:spLocks xmlns:a="http://schemas.openxmlformats.org/drawingml/2006/main" noGrp="1"/>
          </p:cNvSpPr>
          <p:nvPr/>
        </p:nvSpPr>
        <p:spPr>
          <a:xfrm xmlns:a="http://schemas.openxmlformats.org/drawingml/2006/main">
            <a:off x="10953750" y="631507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425" b="0">
                <a:solidFill>
                  <a:srgbClr val="666666"/>
                </a:solidFill>
                <a:latin typeface="Arial"/>
                <a:ea typeface="Arial"/>
                <a:cs typeface="Arial"/>
              </a:defRPr>
            </a:pPr>
            <a:r>
              <a:rPr sz="1425" b="0">
                <a:solidFill>
                  <a:srgbClr val="666666"/>
                </a:solidFill>
                <a:latin typeface="Arial"/>
                <a:ea typeface="Arial"/>
                <a:cs typeface="Arial"/>
              </a:rPr>
              <a:t>9</a:t>
            </a:r>
          </a:p>
        </p:txBody>
      </p:sp>
      <p:sp>
        <p:nvSpPr>
          <p:cNvPr id="3" name="">
            <a:extLst xmlns:a="http://schemas.openxmlformats.org/drawingml/2006/main">
              <a:ext uri="{FF2B5EF4-FFF2-40B4-BE49-F238E27FC236}">
                <a16:creationId xmlns:a16="http://schemas.microsoft.com/office/drawing/2014/main" id="{1333BD7F-9654-4D67-A0FA-6BFF4B1CA812}"/>
              </a:ext>
            </a:extLst>
          </p:cNvPr>
          <p:cNvSpPr>
            <a:spLocks xmlns:a="http://schemas.openxmlformats.org/drawingml/2006/main" noGrp="1"/>
          </p:cNvSpPr>
          <p:nvPr/>
        </p:nvSpPr>
        <p:spPr>
          <a:xfrm xmlns:a="http://schemas.openxmlformats.org/drawingml/2006/main">
            <a:off x="742950" y="169545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C3C3C"/>
                </a:solidFill>
                <a:latin typeface="Arial"/>
                <a:ea typeface="Arial"/>
                <a:cs typeface="Arial"/>
              </a:defRPr>
            </a:pPr>
            <a:r>
              <a:rPr sz="2400" b="0">
                <a:solidFill>
                  <a:srgbClr val="3C3C3C"/>
                </a:solidFill>
                <a:latin typeface="Arial"/>
                <a:ea typeface="Arial"/>
                <a:cs typeface="Arial"/>
              </a:rPr>
              <a:t>One normal case, then bad-input cases</a:t>
            </a:r>
          </a:p>
        </p:txBody>
      </p:sp>
      <p:sp>
        <p:nvSpPr>
          <p:cNvPr id="4" name="">
            <a:extLst xmlns:a="http://schemas.openxmlformats.org/drawingml/2006/main">
              <a:ext uri="{FF2B5EF4-FFF2-40B4-BE49-F238E27FC236}">
                <a16:creationId xmlns:a16="http://schemas.microsoft.com/office/drawing/2014/main" id="{1C285252-CBB9-4E83-84A0-F92CA3943A7E}"/>
              </a:ext>
            </a:extLst>
          </p:cNvPr>
          <p:cNvSpPr>
            <a:spLocks xmlns:a="http://schemas.openxmlformats.org/drawingml/2006/main" noGrp="1"/>
          </p:cNvSpPr>
          <p:nvPr/>
        </p:nvSpPr>
        <p:spPr>
          <a:xfrm xmlns:a="http://schemas.openxmlformats.org/drawingml/2006/main">
            <a:off x="742950" y="2524125"/>
            <a:ext cx="1057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3C3C3C"/>
                </a:solidFill>
                <a:latin typeface="Arial"/>
                <a:ea typeface="Arial"/>
                <a:cs typeface="Arial"/>
              </a:defRPr>
            </a:pPr>
            <a:r>
              <a:rPr sz="2325" b="0">
                <a:solidFill>
                  <a:srgbClr val="3C3C3C"/>
                </a:solidFill>
                <a:latin typeface="Arial"/>
                <a:ea typeface="Arial"/>
                <a:cs typeface="Arial"/>
              </a:rPr>
              <a:t>assertTrue(input.isValidInput("1"));</a:t>
            </a:r>
          </a:p>
          <a:p xmlns:a="http://schemas.openxmlformats.org/drawingml/2006/main">
            <a:pPr>
              <a:defRPr sz="2325" b="0">
                <a:solidFill>
                  <a:srgbClr val="3C3C3C"/>
                </a:solidFill>
                <a:latin typeface="Arial"/>
                <a:ea typeface="Arial"/>
                <a:cs typeface="Arial"/>
              </a:defRPr>
            </a:pPr>
            <a:r>
              <a:rPr sz="2325" b="0">
                <a:solidFill>
                  <a:srgbClr val="3C3C3C"/>
                </a:solidFill>
                <a:latin typeface="Arial"/>
                <a:ea typeface="Arial"/>
                <a:cs typeface="Arial"/>
              </a:rPr>
              <a:t>assertFalse(input.isValidInput("0.1"));</a:t>
            </a:r>
          </a:p>
          <a:p xmlns:a="http://schemas.openxmlformats.org/drawingml/2006/main">
            <a:pPr>
              <a:defRPr sz="2325" b="0">
                <a:solidFill>
                  <a:srgbClr val="3C3C3C"/>
                </a:solidFill>
                <a:latin typeface="Arial"/>
                <a:ea typeface="Arial"/>
                <a:cs typeface="Arial"/>
              </a:defRPr>
            </a:pPr>
            <a:r>
              <a:rPr sz="2325" b="0">
                <a:solidFill>
                  <a:srgbClr val="3C3C3C"/>
                </a:solidFill>
                <a:latin typeface="Arial"/>
                <a:ea typeface="Arial"/>
                <a:cs typeface="Arial"/>
              </a:rPr>
              <a:t>assertFalse(input.isValidInput(null));</a:t>
            </a:r>
          </a:p>
        </p:txBody>
      </p:sp>
      <p:sp>
        <p:nvSpPr>
          <p:cNvPr id="5" name="">
            <a:extLst xmlns:a="http://schemas.openxmlformats.org/drawingml/2006/main">
              <a:ext uri="{FF2B5EF4-FFF2-40B4-BE49-F238E27FC236}">
                <a16:creationId xmlns:a16="http://schemas.microsoft.com/office/drawing/2014/main" id="{0FEC3172-45F4-445F-8F03-1B27D0D2B6D7}"/>
              </a:ext>
            </a:extLst>
          </p:cNvPr>
          <p:cNvSpPr>
            <a:spLocks xmlns:a="http://schemas.openxmlformats.org/drawingml/2006/main" noGrp="1"/>
          </p:cNvSpPr>
          <p:nvPr/>
        </p:nvSpPr>
        <p:spPr>
          <a:xfrm xmlns:a="http://schemas.openxmlformats.org/drawingml/2006/main">
            <a:off x="742950" y="46482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3C3C3C"/>
                </a:solidFill>
                <a:latin typeface="Arial"/>
                <a:ea typeface="Arial"/>
                <a:cs typeface="Arial"/>
              </a:defRPr>
            </a:pPr>
            <a:r>
              <a:rPr sz="2325" b="0">
                <a:solidFill>
                  <a:srgbClr val="3C3C3C"/>
                </a:solidFill>
                <a:latin typeface="Arial"/>
                <a:ea typeface="Arial"/>
                <a:cs typeface="Arial"/>
              </a:rPr>
              <a:t>Generated a test with 10,000 invalid commands.</a:t>
            </a:r>
          </a:p>
        </p:txBody>
      </p:sp>
      <p:sp>
        <p:nvSpPr>
          <p:cNvPr id="6" name="">
            <a:extLst xmlns:a="http://schemas.openxmlformats.org/drawingml/2006/main">
              <a:ext uri="{FF2B5EF4-FFF2-40B4-BE49-F238E27FC236}">
                <a16:creationId xmlns:a16="http://schemas.microsoft.com/office/drawing/2014/main" id="{AA387708-F00B-4100-B03A-7AF71BDB2199}"/>
              </a:ext>
            </a:extLst>
          </p:cNvPr>
          <p:cNvSpPr>
            <a:spLocks xmlns:a="http://schemas.openxmlformats.org/drawingml/2006/main" noGrp="1"/>
          </p:cNvSpPr>
          <p:nvPr/>
        </p:nvSpPr>
        <p:spPr>
          <a:xfrm xmlns:a="http://schemas.openxmlformats.org/drawingml/2006/main">
            <a:off x="742950" y="564832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3C3C3C"/>
                </a:solidFill>
                <a:latin typeface="Arial"/>
                <a:ea typeface="Arial"/>
                <a:cs typeface="Arial"/>
              </a:defRPr>
            </a:pPr>
            <a:r>
              <a:rPr sz="2325" b="1">
                <a:solidFill>
                  <a:srgbClr val="3C3C3C"/>
                </a:solidFill>
                <a:latin typeface="Arial"/>
                <a:ea typeface="Arial"/>
                <a:cs typeface="Arial"/>
              </a:rPr>
              <a:t>A passing test only checks the expectation we wrote.</a:t>
            </a:r>
          </a:p>
        </p:txBody>
      </p:sp>
    </p:spTree>
    <p:extLst>
      <p:ext uri="{BB962C8B-B14F-4D97-AF65-F5344CB8AC3E}">
        <p14:creationId xmlns:p14="http://schemas.microsoft.com/office/powerpoint/2010/main" val="536118122"/>
      </p:ext>
    </p:extLst>
  </p:cSld>
</p:sld>
</file>

<file path=ppt/slides/slide10.xml><?xml version="1.0" encoding="utf-8"?>
<p:sld xmlns:p="http://schemas.openxmlformats.org/presentationml/2006/main">
  <p:cSld>
    <p:bg>
      <p:bgPr>
        <a:solidFill xmlns:a="http://schemas.openxmlformats.org/drawingml/2006/main">
          <a:srgbClr val="F2F2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80C3248-D44C-421D-99A3-4FA0F8199CAA}"/>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1">
                <a:solidFill>
                  <a:srgbClr val="3C3C3C"/>
                </a:solidFill>
                <a:latin typeface="Arial"/>
                <a:ea typeface="Arial"/>
                <a:cs typeface="Arial"/>
              </a:defRPr>
            </a:pPr>
            <a:r>
              <a:rPr sz="3375" b="1">
                <a:solidFill>
                  <a:srgbClr val="3C3C3C"/>
                </a:solidFill>
                <a:latin typeface="Arial"/>
                <a:ea typeface="Arial"/>
                <a:cs typeface="Arial"/>
              </a:rPr>
              <a:t>What went well and poorly with GenAI</a:t>
            </a:r>
          </a:p>
        </p:txBody>
      </p:sp>
      <p:sp>
        <p:nvSpPr>
          <p:cNvPr id="2" name="">
            <a:extLst xmlns:a="http://schemas.openxmlformats.org/drawingml/2006/main">
              <a:ext uri="{FF2B5EF4-FFF2-40B4-BE49-F238E27FC236}">
                <a16:creationId xmlns:a16="http://schemas.microsoft.com/office/drawing/2014/main" id="{6C29134E-D8F1-4C76-8C39-8073AB54C622}"/>
              </a:ext>
            </a:extLst>
          </p:cNvPr>
          <p:cNvSpPr>
            <a:spLocks xmlns:a="http://schemas.openxmlformats.org/drawingml/2006/main" noGrp="1"/>
          </p:cNvSpPr>
          <p:nvPr/>
        </p:nvSpPr>
        <p:spPr>
          <a:xfrm xmlns:a="http://schemas.openxmlformats.org/drawingml/2006/main">
            <a:off x="10953750" y="631507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425" b="0">
                <a:solidFill>
                  <a:srgbClr val="666666"/>
                </a:solidFill>
                <a:latin typeface="Arial"/>
                <a:ea typeface="Arial"/>
                <a:cs typeface="Arial"/>
              </a:defRPr>
            </a:pPr>
            <a:r>
              <a:rPr sz="1425" b="0">
                <a:solidFill>
                  <a:srgbClr val="666666"/>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6FE3760E-8011-45AE-9FA5-9328FE14BC23}"/>
              </a:ext>
            </a:extLst>
          </p:cNvPr>
          <p:cNvSpPr>
            <a:spLocks xmlns:a="http://schemas.openxmlformats.org/drawingml/2006/main" noGrp="1"/>
          </p:cNvSpPr>
          <p:nvPr/>
        </p:nvSpPr>
        <p:spPr>
          <a:xfrm xmlns:a="http://schemas.openxmlformats.org/drawingml/2006/main">
            <a:off x="742950" y="1752600"/>
            <a:ext cx="10477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3C3C3C"/>
                </a:solidFill>
                <a:latin typeface="Arial"/>
                <a:ea typeface="Arial"/>
                <a:cs typeface="Arial"/>
              </a:defRPr>
            </a:pPr>
            <a:r>
              <a:rPr sz="2325" b="1">
                <a:solidFill>
                  <a:srgbClr val="3C3C3C"/>
                </a:solidFill>
                <a:latin typeface="Arial"/>
                <a:ea typeface="Arial"/>
                <a:cs typeface="Arial"/>
              </a:rPr>
              <a:t>What helped</a:t>
            </a:r>
          </a:p>
        </p:txBody>
      </p:sp>
      <p:sp>
        <p:nvSpPr>
          <p:cNvPr id="4" name="">
            <a:extLst xmlns:a="http://schemas.openxmlformats.org/drawingml/2006/main">
              <a:ext uri="{FF2B5EF4-FFF2-40B4-BE49-F238E27FC236}">
                <a16:creationId xmlns:a16="http://schemas.microsoft.com/office/drawing/2014/main" id="{A868D5D6-65A3-4324-A316-11DFEE3F9C35}"/>
              </a:ext>
            </a:extLst>
          </p:cNvPr>
          <p:cNvSpPr>
            <a:spLocks xmlns:a="http://schemas.openxmlformats.org/drawingml/2006/main" noGrp="1"/>
          </p:cNvSpPr>
          <p:nvPr/>
        </p:nvSpPr>
        <p:spPr>
          <a:xfrm xmlns:a="http://schemas.openxmlformats.org/drawingml/2006/main">
            <a:off x="742950" y="2390775"/>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3C3C3C"/>
                </a:solidFill>
                <a:latin typeface="Arial"/>
                <a:ea typeface="Arial"/>
                <a:cs typeface="Arial"/>
              </a:defRPr>
            </a:pPr>
            <a:r>
              <a:rPr sz="2550" b="0">
                <a:solidFill>
                  <a:srgbClr val="3C3C3C"/>
                </a:solidFill>
                <a:latin typeface="Arial"/>
                <a:ea typeface="Arial"/>
                <a:cs typeface="Arial"/>
              </a:rPr>
              <a:t>Specific class contracts and concrete bad-input examples.</a:t>
            </a:r>
          </a:p>
        </p:txBody>
      </p:sp>
      <p:sp>
        <p:nvSpPr>
          <p:cNvPr id="5" name="">
            <a:extLst xmlns:a="http://schemas.openxmlformats.org/drawingml/2006/main">
              <a:ext uri="{FF2B5EF4-FFF2-40B4-BE49-F238E27FC236}">
                <a16:creationId xmlns:a16="http://schemas.microsoft.com/office/drawing/2014/main" id="{C6C84B3C-9C9B-42CA-B40A-C123202EDCED}"/>
              </a:ext>
            </a:extLst>
          </p:cNvPr>
          <p:cNvSpPr>
            <a:spLocks xmlns:a="http://schemas.openxmlformats.org/drawingml/2006/main" noGrp="1"/>
          </p:cNvSpPr>
          <p:nvPr/>
        </p:nvSpPr>
        <p:spPr>
          <a:xfrm xmlns:a="http://schemas.openxmlformats.org/drawingml/2006/main">
            <a:off x="742950" y="3829050"/>
            <a:ext cx="10477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3C3C3C"/>
                </a:solidFill>
                <a:latin typeface="Arial"/>
                <a:ea typeface="Arial"/>
                <a:cs typeface="Arial"/>
              </a:defRPr>
            </a:pPr>
            <a:r>
              <a:rPr sz="2325" b="1">
                <a:solidFill>
                  <a:srgbClr val="3C3C3C"/>
                </a:solidFill>
                <a:latin typeface="Arial"/>
                <a:ea typeface="Arial"/>
                <a:cs typeface="Arial"/>
              </a:rPr>
              <a:t>What needed work</a:t>
            </a:r>
          </a:p>
        </p:txBody>
      </p:sp>
      <p:sp>
        <p:nvSpPr>
          <p:cNvPr id="6" name="">
            <a:extLst xmlns:a="http://schemas.openxmlformats.org/drawingml/2006/main">
              <a:ext uri="{FF2B5EF4-FFF2-40B4-BE49-F238E27FC236}">
                <a16:creationId xmlns:a16="http://schemas.microsoft.com/office/drawing/2014/main" id="{E2294CBE-99ED-4371-8361-6A243692613B}"/>
              </a:ext>
            </a:extLst>
          </p:cNvPr>
          <p:cNvSpPr>
            <a:spLocks xmlns:a="http://schemas.openxmlformats.org/drawingml/2006/main" noGrp="1"/>
          </p:cNvSpPr>
          <p:nvPr/>
        </p:nvSpPr>
        <p:spPr>
          <a:xfrm xmlns:a="http://schemas.openxmlformats.org/drawingml/2006/main">
            <a:off x="742950" y="4467225"/>
            <a:ext cx="10477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3C3C3C"/>
                </a:solidFill>
                <a:latin typeface="Arial"/>
                <a:ea typeface="Arial"/>
                <a:cs typeface="Arial"/>
              </a:defRPr>
            </a:pPr>
            <a:r>
              <a:rPr sz="2550" b="0">
                <a:solidFill>
                  <a:srgbClr val="3C3C3C"/>
                </a:solidFill>
                <a:latin typeface="Arial"/>
                <a:ea typeface="Arial"/>
                <a:cs typeface="Arial"/>
              </a:rPr>
              <a:t>Ambiguous rules still required decisions. Generated tests still required independent expected results.</a:t>
            </a:r>
          </a:p>
        </p:txBody>
      </p:sp>
    </p:spTree>
    <p:extLst>
      <p:ext uri="{BB962C8B-B14F-4D97-AF65-F5344CB8AC3E}">
        <p14:creationId xmlns:p14="http://schemas.microsoft.com/office/powerpoint/2010/main" val="1702239600"/>
      </p:ext>
    </p:extLst>
  </p:cSld>
</p:sld>
</file>

<file path=ppt/slides/slide11.xml><?xml version="1.0" encoding="utf-8"?>
<p:sld xmlns:p="http://schemas.openxmlformats.org/presentationml/2006/main">
  <p:cSld>
    <p:bg>
      <p:bgPr>
        <a:solidFill xmlns:a="http://schemas.openxmlformats.org/drawingml/2006/main">
          <a:srgbClr val="F2F2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F8F5889-4FBA-49FA-BF46-82BB1D74F465}"/>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1">
                <a:solidFill>
                  <a:srgbClr val="3C3C3C"/>
                </a:solidFill>
                <a:latin typeface="Arial"/>
                <a:ea typeface="Arial"/>
                <a:cs typeface="Arial"/>
              </a:defRPr>
            </a:pPr>
            <a:r>
              <a:rPr sz="3375" b="1">
                <a:solidFill>
                  <a:srgbClr val="3C3C3C"/>
                </a:solidFill>
                <a:latin typeface="Arial"/>
                <a:ea typeface="Arial"/>
                <a:cs typeface="Arial"/>
              </a:rPr>
              <a:t>The next project</a:t>
            </a:r>
          </a:p>
        </p:txBody>
      </p:sp>
      <p:sp>
        <p:nvSpPr>
          <p:cNvPr id="2" name="">
            <a:extLst xmlns:a="http://schemas.openxmlformats.org/drawingml/2006/main">
              <a:ext uri="{FF2B5EF4-FFF2-40B4-BE49-F238E27FC236}">
                <a16:creationId xmlns:a16="http://schemas.microsoft.com/office/drawing/2014/main" id="{B895C867-6123-4913-A30B-9D38B4AC303B}"/>
              </a:ext>
            </a:extLst>
          </p:cNvPr>
          <p:cNvSpPr>
            <a:spLocks xmlns:a="http://schemas.openxmlformats.org/drawingml/2006/main" noGrp="1"/>
          </p:cNvSpPr>
          <p:nvPr/>
        </p:nvSpPr>
        <p:spPr>
          <a:xfrm xmlns:a="http://schemas.openxmlformats.org/drawingml/2006/main">
            <a:off x="10953750" y="631507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425" b="0">
                <a:solidFill>
                  <a:srgbClr val="666666"/>
                </a:solidFill>
                <a:latin typeface="Arial"/>
                <a:ea typeface="Arial"/>
                <a:cs typeface="Arial"/>
              </a:defRPr>
            </a:pPr>
            <a:r>
              <a:rPr sz="1425" b="0">
                <a:solidFill>
                  <a:srgbClr val="666666"/>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BD915799-5602-4427-A41A-436BC489A68C}"/>
              </a:ext>
            </a:extLst>
          </p:cNvPr>
          <p:cNvSpPr>
            <a:spLocks xmlns:a="http://schemas.openxmlformats.org/drawingml/2006/main" noGrp="1"/>
          </p:cNvSpPr>
          <p:nvPr/>
        </p:nvSpPr>
        <p:spPr>
          <a:xfrm xmlns:a="http://schemas.openxmlformats.org/drawingml/2006/main">
            <a:off x="742950" y="1781175"/>
            <a:ext cx="10477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79400" indent="-139700">
              <a:spcAft>
                <a:spcPts val="2600"/>
              </a:spcAft>
              <a:buChar char="•"/>
              <a:defRPr sz="2550" b="0">
                <a:solidFill>
                  <a:srgbClr val="3C3C3C"/>
                </a:solidFill>
                <a:latin typeface="Arial"/>
                <a:ea typeface="Arial"/>
                <a:cs typeface="Arial"/>
              </a:defRPr>
            </a:pPr>
            <a:r>
              <a:t>Try writing expected test outcomes before generating code.</a:t>
            </a:r>
          </a:p>
          <a:p xmlns:a="http://schemas.openxmlformats.org/drawingml/2006/main">
            <a:pPr marL="279400" indent="-139700">
              <a:spcAft>
                <a:spcPts val="2600"/>
              </a:spcAft>
              <a:buChar char="•"/>
              <a:defRPr sz="2550" b="0">
                <a:solidFill>
                  <a:srgbClr val="3C3C3C"/>
                </a:solidFill>
                <a:latin typeface="Arial"/>
                <a:ea typeface="Arial"/>
                <a:cs typeface="Arial"/>
              </a:defRPr>
            </a:pPr>
            <a:r>
              <a:t>Ask GenAI to find missing cases in a small change.</a:t>
            </a:r>
          </a:p>
          <a:p xmlns:a="http://schemas.openxmlformats.org/drawingml/2006/main">
            <a:pPr marL="279400" indent="-139700">
              <a:spcAft>
                <a:spcPts val="2600"/>
              </a:spcAft>
              <a:buChar char="•"/>
              <a:defRPr sz="2550" b="0">
                <a:solidFill>
                  <a:srgbClr val="3C3C3C"/>
                </a:solidFill>
                <a:latin typeface="Arial"/>
                <a:ea typeface="Arial"/>
                <a:cs typeface="Arial"/>
              </a:defRPr>
            </a:pPr>
            <a:r>
              <a:t>Keep changes small enough to explain and test.</a:t>
            </a:r>
          </a:p>
        </p:txBody>
      </p:sp>
      <p:sp>
        <p:nvSpPr>
          <p:cNvPr id="4" name="">
            <a:extLst xmlns:a="http://schemas.openxmlformats.org/drawingml/2006/main">
              <a:ext uri="{FF2B5EF4-FFF2-40B4-BE49-F238E27FC236}">
                <a16:creationId xmlns:a16="http://schemas.microsoft.com/office/drawing/2014/main" id="{7334ED93-0DCD-47C9-AF5D-FB2E3EBCD14D}"/>
              </a:ext>
            </a:extLst>
          </p:cNvPr>
          <p:cNvSpPr>
            <a:spLocks xmlns:a="http://schemas.openxmlformats.org/drawingml/2006/main" noGrp="1"/>
          </p:cNvSpPr>
          <p:nvPr/>
        </p:nvSpPr>
        <p:spPr>
          <a:xfrm xmlns:a="http://schemas.openxmlformats.org/drawingml/2006/main">
            <a:off x="742950" y="52387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666666"/>
                </a:solidFill>
                <a:latin typeface="Arial"/>
                <a:ea typeface="Arial"/>
                <a:cs typeface="Arial"/>
              </a:defRPr>
            </a:pPr>
            <a:r>
              <a:rPr sz="2175" b="0">
                <a:solidFill>
                  <a:srgbClr val="666666"/>
                </a:solidFill>
                <a:latin typeface="Arial"/>
                <a:ea typeface="Arial"/>
                <a:cs typeface="Arial"/>
                <a:hlinkClick xmlns:r="http://schemas.openxmlformats.org/officeDocument/2006/relationships" r:id="R36ea5a78c32845a9"/>
              </a:rPr>
              <a:t>github.com/sahiths2026S/cs2114-project1-group64</a:t>
            </a:r>
          </a:p>
        </p:txBody>
      </p:sp>
    </p:spTree>
    <p:extLst>
      <p:ext uri="{BB962C8B-B14F-4D97-AF65-F5344CB8AC3E}">
        <p14:creationId xmlns:p14="http://schemas.microsoft.com/office/powerpoint/2010/main" val="9206665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2026-09-23T21:19:48.2360000Z</dcterms:created>
  <dcterms:modified xsi:type="dcterms:W3CDTF">2026-09-23T21:19:48.2360000Z</dcterms:modified>
</coreProperties>
</file>